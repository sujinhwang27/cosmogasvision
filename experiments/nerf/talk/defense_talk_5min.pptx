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– 0:20]</a:t>
            </a:r>
          </a:p>
          <a:p/>
          <a:p>
            <a:r>
              <a:t>In the next five minutes I'll show you a NeRF variant where we kept the</a:t>
            </a:r>
          </a:p>
          <a:p>
            <a:r>
              <a:t>architecture from Mildenhall et al. and replaced everything optical with</a:t>
            </a:r>
          </a:p>
          <a:p>
            <a:r>
              <a:t>physics. The result reconstructs a 3D gas density field from 1D absorption</a:t>
            </a:r>
          </a:p>
          <a:p>
            <a:r>
              <a:t>spectra. Frame it as sparse-view 3D reconstruction, where the rendering</a:t>
            </a:r>
          </a:p>
          <a:p>
            <a:r>
              <a:t>operator is the Lyman-alpha optical depth integral instead of the radiance</a:t>
            </a:r>
          </a:p>
          <a:p>
            <a:r>
              <a:t>integral.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 – 1:10]</a:t>
            </a:r>
          </a:p>
          <a:p/>
          <a:p>
            <a:r>
              <a:t>In CV terms: sparse-view 3D reconstruction. The volume is 60 Mpc on a side.</a:t>
            </a:r>
          </a:p>
          <a:p>
            <a:r>
              <a:t>The cameras are quasars behind the volume; the rays are sightlines through</a:t>
            </a:r>
          </a:p>
          <a:p>
            <a:r>
              <a:t>the gas. Each ray gives us a 1D absorption profile — how much light got</a:t>
            </a:r>
          </a:p>
          <a:p>
            <a:r>
              <a:t>absorbed at each velocity along the line.</a:t>
            </a:r>
          </a:p>
          <a:p/>
          <a:p>
            <a:r>
              <a:t>Three things make this not a standard NeRF problem:</a:t>
            </a:r>
          </a:p>
          <a:p>
            <a:r>
              <a:t>1. The image is 1D, not 2D RGB.</a:t>
            </a:r>
          </a:p>
          <a:p>
            <a:r>
              <a:t>2. The forward operator is the Lyman-alpha optical depth integral — known,</a:t>
            </a:r>
          </a:p>
          <a:p>
            <a:r>
              <a:t>   nonlinear, fully differentiable.</a:t>
            </a:r>
          </a:p>
          <a:p>
            <a:r>
              <a:t>3. The target distribution is heavy-tailed: most of the spectrum sits in a</a:t>
            </a:r>
          </a:p>
          <a:p>
            <a:r>
              <a:t>   narrow optical-depth range, but rare saturated absorbers (DLAs) reach</a:t>
            </a:r>
          </a:p>
          <a:p>
            <a:r>
              <a:t>   τ ≈ 10⁷, which destroys per-pixel MSE.</a:t>
            </a:r>
          </a:p>
          <a:p/>
          <a:p>
            <a:r>
              <a:t>The reconstruction question: given a few hundred to a few thousand of these</a:t>
            </a:r>
          </a:p>
          <a:p>
            <a:r>
              <a:t>spectra, can we recover the underlying 3D density-temperature-velocity field?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 – 2:30]</a:t>
            </a:r>
          </a:p>
          <a:p/>
          <a:p>
            <a:r>
              <a:t>Make the analogy explicit. Same MLP. Same Fourier positional encoding at</a:t>
            </a:r>
          </a:p>
          <a:p>
            <a:r>
              <a:t>L=10. Same skip connection at layer 4. The first half of the network is</a:t>
            </a:r>
          </a:p>
          <a:p>
            <a:r>
              <a:t>byte-identical to Mildenhall.</a:t>
            </a:r>
          </a:p>
          <a:p/>
          <a:p>
            <a:r>
              <a:t>Where we diverge — the salmon boxes:</a:t>
            </a:r>
          </a:p>
          <a:p/>
          <a:p>
            <a:r>
              <a:t>— No view direction in the input. Gas density doesn't depend on viewing</a:t>
            </a:r>
          </a:p>
          <a:p>
            <a:r>
              <a:t>  angle.</a:t>
            </a:r>
          </a:p>
          <a:p>
            <a:r>
              <a:t>— The output is four physical fields, not RGB plus density: gas density ρ,</a:t>
            </a:r>
          </a:p>
          <a:p>
            <a:r>
              <a:t>  temperature T, neutral hydrogen fraction X_HI, peculiar velocity v_pec.</a:t>
            </a:r>
          </a:p>
          <a:p>
            <a:r>
              <a:t>  All bounded with physics-aware activations to enforce positivity and</a:t>
            </a:r>
          </a:p>
          <a:p>
            <a:r>
              <a:t>  realistic ranges.</a:t>
            </a:r>
          </a:p>
          <a:p>
            <a:r>
              <a:t>— The rendering operator is the Voigt–Hjerting kernel — a nonlinear</a:t>
            </a:r>
          </a:p>
          <a:p>
            <a:r>
              <a:t>  convolution in velocity space — instead of the volume-rendering integral.</a:t>
            </a:r>
          </a:p>
          <a:p>
            <a:r>
              <a:t>— The 'image' is a 1D spectrum at the camera, not a 2D RGB image.</a:t>
            </a:r>
          </a:p>
          <a:p>
            <a:r>
              <a:t>— The loss handles a heavy-tailed target — separate slide.</a:t>
            </a:r>
          </a:p>
          <a:p/>
          <a:p>
            <a:r>
              <a:t>Bottom line: the architecture is NeRF. The rendering operator is physics.</a:t>
            </a:r>
          </a:p>
          <a:p>
            <a:r>
              <a:t>That's the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[2:30 – 3:30]</a:t>
            </a:r>
          </a:p>
          <a:p/>
          <a:p>
            <a:r>
              <a:t>The forward model. One equation. Optical depth at observation velocity v_obs</a:t>
            </a:r>
          </a:p>
          <a:p>
            <a:r>
              <a:t>is a sum over source bins of gas density times the Voigt absorption kernel.</a:t>
            </a:r>
          </a:p>
          <a:p/>
          <a:p>
            <a:r>
              <a:t>CV translation: n_HI plays the role of σ — local opacity. H(a,x) is the</a:t>
            </a:r>
          </a:p>
          <a:p>
            <a:r>
              <a:t>radiance equivalent — but it's a known closed-form kernel, not a learned</a:t>
            </a:r>
          </a:p>
          <a:p>
            <a:r>
              <a:t>function. b is the thermal Doppler width — this is the kernel bandwidth,</a:t>
            </a:r>
          </a:p>
          <a:p>
            <a:r>
              <a:t>and it depends on local gas temperature, so the kernel itself varies across</a:t>
            </a:r>
          </a:p>
          <a:p>
            <a:r>
              <a:t>the volume. 𝒜 is a single learnable amplitude that absorbs all global</a:t>
            </a:r>
          </a:p>
          <a:p>
            <a:r>
              <a:t>constants.</a:t>
            </a:r>
          </a:p>
          <a:p/>
          <a:p>
            <a:r>
              <a:t>This entire forward pass is autograd-compatible. We added a numerical Taylor</a:t>
            </a:r>
          </a:p>
          <a:p>
            <a:r>
              <a:t>branch for the kernel near zero — small detail, eliminates a defense-panel</a:t>
            </a:r>
          </a:p>
          <a:p>
            <a:r>
              <a:t>attack vector.</a:t>
            </a:r>
          </a:p>
          <a:p/>
          <a:p>
            <a:r>
              <a:t>Loss. The targets are optical depths. Most of the volume has τ in the range</a:t>
            </a:r>
          </a:p>
          <a:p>
            <a:r>
              <a:t>0 to 5. But a tiny fraction — damped Lyman-alpha systems — has τ at 10⁷.</a:t>
            </a:r>
          </a:p>
          <a:p>
            <a:r>
              <a:t>Per-pixel MSE collapses onto these.</a:t>
            </a:r>
          </a:p>
          <a:p/>
          <a:p>
            <a:r>
              <a:t>Three coupled fixes:</a:t>
            </a:r>
          </a:p>
          <a:p>
            <a:r>
              <a:t>1. Mask out the saturated cores entirely from the loss.</a:t>
            </a:r>
          </a:p>
          <a:p>
            <a:r>
              <a:t>2. Cap the surviving forest at τ_max = 10. We did NOT pick this number —</a:t>
            </a:r>
          </a:p>
          <a:p>
            <a:r>
              <a:t>   we ran a sensitivity sweep at τ_max in {5, 10, 20} and the change in</a:t>
            </a:r>
          </a:p>
          <a:p>
            <a:r>
              <a:t>   downstream flux power was 0.018%, two orders of magnitude under our</a:t>
            </a:r>
          </a:p>
          <a:p>
            <a:r>
              <a:t>   pass criterion. The bottom-left figure is that sensitivity result.</a:t>
            </a:r>
          </a:p>
          <a:p>
            <a:r>
              <a:t>3. Log1p-transform before MSE. The IGM opacity distribution is</a:t>
            </a:r>
          </a:p>
          <a:p>
            <a:r>
              <a:t>   approximately log-normal — Fluctuating Gunn-Peterson Approximation,</a:t>
            </a:r>
          </a:p>
          <a:p>
            <a:r>
              <a:t>   Bi &amp; Davidsen 1997 — so log-space supervision matches the natural</a:t>
            </a:r>
          </a:p>
          <a:p>
            <a:r>
              <a:t>   noise model.</a:t>
            </a:r>
          </a:p>
          <a:p/>
          <a:p>
            <a:r>
              <a:t>Each part has a physical justification, not a tuning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[3:30 – 4:20]</a:t>
            </a:r>
          </a:p>
          <a:p/>
          <a:p>
            <a:r>
              <a:t>Here's what's done. Four physics variants — same dark matter, different</a:t>
            </a:r>
          </a:p>
          <a:p>
            <a:r>
              <a:t>feedback recipes (no feedback, stellar wind only, stellar wind plus AGN,</a:t>
            </a:r>
          </a:p>
          <a:p>
            <a:r>
              <a:t>strong AGN). Each gets its own MLP fit.</a:t>
            </a:r>
          </a:p>
          <a:p/>
          <a:p>
            <a:r>
              <a:t>At Tier-1 sparsity — 64 sightlines through the 60 Mpc box — every variant</a:t>
            </a:r>
          </a:p>
          <a:p>
            <a:r>
              <a:t>recovers the mean transmitted flux to within 0.66 percent across the four</a:t>
            </a:r>
          </a:p>
          <a:p>
            <a:r>
              <a:t>physics: 0.9247 to 0.9308, against the observational anchor 0.877.</a:t>
            </a:r>
          </a:p>
          <a:p/>
          <a:p>
            <a:r>
              <a:t>Cell entries are mean-flux divided by the learned amplitude 𝒜. The</a:t>
            </a:r>
          </a:p>
          <a:p>
            <a:r>
              <a:t>mean-flux numbers are the headline; 𝒜 absorbs the global scale.</a:t>
            </a:r>
          </a:p>
          <a:p/>
          <a:p>
            <a:r>
              <a:t>The empty cells are the rest of the 4×4 ablation matrix — sightline</a:t>
            </a:r>
          </a:p>
          <a:p>
            <a:r>
              <a:t>densities of 256, 1024, and 16,384. The architecture is identical; the</a:t>
            </a:r>
          </a:p>
          <a:p>
            <a:r>
              <a:t>compute is the gate. Tier 4 alone is 792 GPU-hours.</a:t>
            </a:r>
          </a:p>
          <a:p/>
          <a:p>
            <a:r>
              <a:t>Across the matrix, the headline claim we want to demonstrate is the</a:t>
            </a:r>
          </a:p>
          <a:p>
            <a:r>
              <a:t>degradation curve — how reconstruction quality drops as sightlines get</a:t>
            </a:r>
          </a:p>
          <a:p>
            <a:r>
              <a:t>sparser. That's the CVPR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[4:20 – 5:00]</a:t>
            </a:r>
          </a:p>
          <a:p/>
          <a:p>
            <a:r>
              <a:t>What's next. Production sweep across the remaining 12 cells of the ablation</a:t>
            </a:r>
          </a:p>
          <a:p>
            <a:r>
              <a:t>matrix. Three downstream evaluators are implemented and waiting: 1D flux</a:t>
            </a:r>
          </a:p>
          <a:p>
            <a:r>
              <a:t>power spectrum, Pearson cross-correlation between predicted and ground-truth</a:t>
            </a:r>
          </a:p>
          <a:p>
            <a:r>
              <a:t>density, and Kolmogorov-Smirnov distance on the flux PDF. These are the</a:t>
            </a:r>
          </a:p>
          <a:p>
            <a:r>
              <a:t>three gates the methodology is committed to passing.</a:t>
            </a:r>
          </a:p>
          <a:p/>
          <a:p>
            <a:r>
              <a:t>Resource ask: ~820 GPU-hours, four GPUs in parallel, nine calendar days,</a:t>
            </a:r>
          </a:p>
          <a:p>
            <a:r>
              <a:t>≥12 GB VRAM, single-GPU per job. Compatible with any modern data-center</a:t>
            </a:r>
          </a:p>
          <a:p>
            <a:r>
              <a:t>or HPC cluster.</a:t>
            </a:r>
          </a:p>
          <a:p/>
          <a:p>
            <a:r>
              <a:t>Final framing — and this is the line to land:</a:t>
            </a:r>
          </a:p>
          <a:p/>
          <a:p>
            <a:r>
              <a:t>The architecture is the easy part. The contribution is the differentiable</a:t>
            </a:r>
          </a:p>
          <a:p>
            <a:r>
              <a:t>forward model and the loss design that makes per-pixel supervision behave</a:t>
            </a:r>
          </a:p>
          <a:p>
            <a:r>
              <a:t>under heavy-tailed targets. NeRF turned out to be the right representation</a:t>
            </a:r>
          </a:p>
          <a:p>
            <a:r>
              <a:t>for this problem — continuous, sparse-input-friendly, autograd-clean.</a:t>
            </a:r>
          </a:p>
          <a:p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102A43"/>
                </a:solidFill>
              </a:rPr>
              <a:t>IGM NeRF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555555"/>
                </a:solidFill>
              </a:rPr>
              <a:t>NeRF for 3D reconstruction from 1D absorption spectra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102A43"/>
                </a:solidFill>
              </a:rPr>
              <a:t>We took NeRF's continuous-field representation and replaced its</a:t>
            </a:r>
            <a:br/>
            <a:r>
              <a:rPr sz="1800" i="1">
                <a:solidFill>
                  <a:srgbClr val="102A43"/>
                </a:solidFill>
              </a:rPr>
              <a:t>rendering operator with physics. The result reconstructs 3D gas density</a:t>
            </a:r>
            <a:br/>
            <a:r>
              <a:rPr sz="1800" i="1">
                <a:solidFill>
                  <a:srgbClr val="102A43"/>
                </a:solidFill>
              </a:rPr>
              <a:t>from 1D spectra — sparse-view 3D reconstruction with a non-photometric</a:t>
            </a:r>
            <a:br/>
            <a:r>
              <a:rPr sz="1800" i="1">
                <a:solidFill>
                  <a:srgbClr val="102A43"/>
                </a:solidFill>
              </a:rPr>
              <a:t>forward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i="1">
                <a:solidFill>
                  <a:srgbClr val="555555"/>
                </a:solidFill>
              </a:rPr>
              <a:t>5-minute talk · slide 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A43"/>
                </a:solidFill>
              </a:rPr>
              <a:t>The problem, in CV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102A43"/>
                </a:solidFill>
              </a:rPr>
              <a:t>•  Volume: 60 Mpc cosmological box (Sherwood simulation, four feedback variants)</a:t>
            </a:r>
          </a:p>
          <a:p>
            <a:pPr/>
            <a:r>
              <a:rPr sz="2000">
                <a:solidFill>
                  <a:srgbClr val="102A43"/>
                </a:solidFill>
              </a:rPr>
              <a:t>•  "Cameras": background quasars; "rays": sightlines piercing the gas</a:t>
            </a:r>
          </a:p>
          <a:p>
            <a:pPr/>
            <a:r>
              <a:rPr sz="2000">
                <a:solidFill>
                  <a:srgbClr val="102A43"/>
                </a:solidFill>
              </a:rPr>
              <a:t>•  "Image" per ray: a 1D absorption spectrum  — not RGB, not 2D</a:t>
            </a:r>
          </a:p>
          <a:p>
            <a:pPr/>
            <a:r>
              <a:rPr sz="2000">
                <a:solidFill>
                  <a:srgbClr val="102A43"/>
                </a:solidFill>
              </a:rPr>
              <a:t>•  Forward model: known, differentiable, nonlinear — Voigt–Hjerting absorption</a:t>
            </a:r>
          </a:p>
          <a:p>
            <a:pPr/>
            <a:r>
              <a:rPr sz="2000">
                <a:solidFill>
                  <a:srgbClr val="102A43"/>
                </a:solidFill>
              </a:rPr>
              <a:t>•  Reconstruct 3D fields  ρ, T, X_HI, v_pec  from a few 100 → few 1000 sightlines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0392B"/>
                </a:solidFill>
              </a:rPr>
              <a:t>CV analogy</a:t>
            </a:r>
          </a:p>
          <a:p>
            <a:r>
              <a:rPr sz="1500">
                <a:solidFill>
                  <a:srgbClr val="102A43"/>
                </a:solidFill>
              </a:rPr>
              <a:t>Sparse-view inverse rendering, but: (i) the "image" is 1D; (ii) the rendering operator is the Lyman-α optical-depth integral (not Lambertian radiance); (iii) the target distribution is heavy-tailed (τ ≈ 0–5 typical, τ ≈ 10⁷ at saturated absorbers) — naive per-pixel MSE breaks.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i="1">
                <a:solidFill>
                  <a:srgbClr val="555555"/>
                </a:solidFill>
              </a:rPr>
              <a:t>slide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A43"/>
                </a:solidFill>
              </a:rPr>
              <a:t>What we kept from NeRF, what we replaced</a:t>
            </a:r>
          </a:p>
        </p:txBody>
      </p:sp>
      <p:pic>
        <p:nvPicPr>
          <p:cNvPr id="3" name="Picture 2" descr="nerf_vs_igmner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8490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i="1">
                <a:solidFill>
                  <a:srgbClr val="555555"/>
                </a:solidFill>
              </a:rPr>
              <a:t>slide 3 / 6  ·  architecture diagram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A43"/>
                </a:solidFill>
              </a:rPr>
              <a:t>Differentiable physics rendering + loss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943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92B"/>
                </a:solidFill>
              </a:rPr>
              <a:t>Optical-depth rendering</a:t>
            </a:r>
          </a:p>
          <a:p>
            <a:r>
              <a:rPr sz="2000" b="1">
                <a:solidFill>
                  <a:srgbClr val="102A43"/>
                </a:solidFill>
              </a:rPr>
              <a:t>τ(v_obs)  =  𝒜 · Σ_src  n_HI · H(a, x) / (b√π)</a:t>
            </a:r>
          </a:p>
          <a:p/>
          <a:p>
            <a:r>
              <a:rPr sz="1400" i="1">
                <a:solidFill>
                  <a:srgbClr val="555555"/>
                </a:solidFill>
              </a:rPr>
              <a:t>CV mapping:</a:t>
            </a:r>
          </a:p>
          <a:p>
            <a:r>
              <a:rPr sz="1300">
                <a:solidFill>
                  <a:srgbClr val="102A43"/>
                </a:solidFill>
              </a:rPr>
              <a:t>•  n_HI  ↔  σ in NeRF  (local opacity, positive)</a:t>
            </a:r>
          </a:p>
          <a:p>
            <a:r>
              <a:rPr sz="1300">
                <a:solidFill>
                  <a:srgbClr val="102A43"/>
                </a:solidFill>
              </a:rPr>
              <a:t>•  H(a, x)  ↔  c (radiance)  — but a known closed-form kernel</a:t>
            </a:r>
          </a:p>
          <a:p>
            <a:r>
              <a:rPr sz="1300">
                <a:solidFill>
                  <a:srgbClr val="102A43"/>
                </a:solidFill>
              </a:rPr>
              <a:t>•  v_obs  ↔  pixel coordinate (here 1D)</a:t>
            </a:r>
          </a:p>
          <a:p>
            <a:r>
              <a:rPr sz="1300">
                <a:solidFill>
                  <a:srgbClr val="102A43"/>
                </a:solidFill>
              </a:rPr>
              <a:t>•  𝒜  ↔  global brightness scalar  (one learnable parameter)</a:t>
            </a:r>
          </a:p>
          <a:p>
            <a:r>
              <a:rPr sz="1300">
                <a:solidFill>
                  <a:srgbClr val="102A43"/>
                </a:solidFill>
              </a:rPr>
              <a:t>•  b(T)  =  thermal Doppler width  (kernel bandwidth, T-dependent)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18872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92B"/>
                </a:solidFill>
              </a:rPr>
              <a:t>Loss design (the methods contribution)</a:t>
            </a:r>
          </a:p>
          <a:p/>
          <a:p>
            <a:r>
              <a:rPr sz="1500" b="1">
                <a:solidFill>
                  <a:srgbClr val="102A43"/>
                </a:solidFill>
              </a:rPr>
              <a:t>ℒ_data = ⟨ ( log(1 + τ̂_eff)  −  log(1 + τ_eff) )² ⟩_non-DLA</a:t>
            </a:r>
          </a:p>
          <a:p>
            <a:r>
              <a:rPr sz="1300" i="1">
                <a:solidFill>
                  <a:srgbClr val="555555"/>
                </a:solidFill>
              </a:rPr>
              <a:t>with  τ_eff = min(τ, τ_max=10),  mask out saturated cores</a:t>
            </a:r>
          </a:p>
          <a:p/>
          <a:p>
            <a:r>
              <a:rPr sz="1400" b="1">
                <a:solidFill>
                  <a:srgbClr val="102A43"/>
                </a:solidFill>
              </a:rPr>
              <a:t>Three coupled rulings:</a:t>
            </a:r>
          </a:p>
          <a:p>
            <a:r>
              <a:rPr sz="1200">
                <a:solidFill>
                  <a:srgbClr val="102A43"/>
                </a:solidFill>
              </a:rPr>
              <a:t>(1)  Saturated-absorber mask  (heavy-tail outliers excluded)</a:t>
            </a:r>
          </a:p>
          <a:p>
            <a:r>
              <a:rPr sz="1200">
                <a:solidFill>
                  <a:srgbClr val="102A43"/>
                </a:solidFill>
              </a:rPr>
              <a:t>(2)  Forest cap τ_max = 10  — calibrated, not chosen</a:t>
            </a:r>
          </a:p>
          <a:p>
            <a:r>
              <a:rPr sz="1100">
                <a:solidFill>
                  <a:srgbClr val="555555"/>
                </a:solidFill>
              </a:rPr>
              <a:t>        sensitivity sweep:  ΔP_F/P_F  ≤  0.018%</a:t>
            </a:r>
          </a:p>
          <a:p>
            <a:r>
              <a:rPr sz="1100">
                <a:solidFill>
                  <a:srgbClr val="555555"/>
                </a:solidFill>
              </a:rPr>
              <a:t>        (~100× under the 2% pass criterion)</a:t>
            </a:r>
          </a:p>
          <a:p>
            <a:r>
              <a:rPr sz="1200">
                <a:solidFill>
                  <a:srgbClr val="102A43"/>
                </a:solidFill>
              </a:rPr>
              <a:t>(3)  log-space supervision  ↔  IGM opacity is log-normal</a:t>
            </a:r>
          </a:p>
          <a:p>
            <a:r>
              <a:rPr sz="1100">
                <a:solidFill>
                  <a:srgbClr val="555555"/>
                </a:solidFill>
              </a:rPr>
              <a:t>        Bi &amp; Davidsen 1997 / Hui &amp; Gnedin 1997 FGPA</a:t>
            </a:r>
          </a:p>
        </p:txBody>
      </p:sp>
      <p:pic>
        <p:nvPicPr>
          <p:cNvPr id="5" name="Picture 4" descr="tau_max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0"/>
            <a:ext cx="5943600" cy="4636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i="1">
                <a:solidFill>
                  <a:srgbClr val="555555"/>
                </a:solidFill>
              </a:rPr>
              <a:t>slide 4 / 6  ·  forward model + loss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A43"/>
                </a:solidFill>
              </a:rPr>
              <a:t>Result: Tier-1 across four feedback variants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512064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02A43"/>
                          </a:solidFill>
                        </a:rPr>
                        <a:t>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02A43"/>
                          </a:solidFill>
                        </a:rPr>
                        <a:t>T1  (n=64)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02A43"/>
                          </a:solidFill>
                        </a:rPr>
                        <a:t>T2  (n=256)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02A43"/>
                          </a:solidFill>
                        </a:rPr>
                        <a:t>T3  (n=1024)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02A43"/>
                          </a:solidFill>
                        </a:rPr>
                        <a:t>T4  (n=16,384)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P1  (no fdbk)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0.9282 / 1.224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P2  (wind)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0.9247 / 2.315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P3  (wind+AGN)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0.9275 / 2.038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P4  (strong AGN)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0.9308 / 1.955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02336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</a:rPr>
              <a:t>Cell:  ⟨F⟩_pred / 𝒜  at the production schedule  (50,000 steps each)</a:t>
            </a:r>
          </a:p>
          <a:p/>
          <a:p>
            <a:r>
              <a:rPr sz="1500" b="1">
                <a:solidFill>
                  <a:srgbClr val="102A43"/>
                </a:solidFill>
              </a:rPr>
              <a:t>Mean-flux spread across four physics:  0.9247 → 0.9308   (0.66 %)</a:t>
            </a:r>
          </a:p>
          <a:p>
            <a:r>
              <a:rPr sz="1300">
                <a:solidFill>
                  <a:srgbClr val="555555"/>
                </a:solidFill>
              </a:rPr>
              <a:t>Well within the 5 % calibration tolerance vs the observational anchor</a:t>
            </a:r>
          </a:p>
          <a:p>
            <a:r>
              <a:rPr sz="1300" i="1">
                <a:solidFill>
                  <a:srgbClr val="555555"/>
                </a:solidFill>
              </a:rPr>
              <a:t>(Danforth+ 2016,  ⟨F⟩_obs  =  0.877  ±  15 %  at  z = 0.3)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8016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92B"/>
                </a:solidFill>
              </a:rPr>
              <a:t>What this shows</a:t>
            </a:r>
          </a:p>
          <a:p>
            <a:r>
              <a:rPr sz="1300">
                <a:solidFill>
                  <a:srgbClr val="102A43"/>
                </a:solidFill>
              </a:rPr>
              <a:t>Same architecture</a:t>
            </a:r>
          </a:p>
          <a:p>
            <a:r>
              <a:rPr sz="1300">
                <a:solidFill>
                  <a:srgbClr val="102A43"/>
                </a:solidFill>
              </a:rPr>
              <a:t>Same loss</a:t>
            </a:r>
          </a:p>
          <a:p>
            <a:r>
              <a:rPr sz="1300">
                <a:solidFill>
                  <a:srgbClr val="102A43"/>
                </a:solidFill>
              </a:rPr>
              <a:t>Same hyperparameters</a:t>
            </a:r>
          </a:p>
          <a:p/>
          <a:p>
            <a:r>
              <a:rPr sz="1300">
                <a:solidFill>
                  <a:srgbClr val="102A43"/>
                </a:solidFill>
              </a:rPr>
              <a:t>Four different physics priors</a:t>
            </a:r>
          </a:p>
          <a:p>
            <a:r>
              <a:rPr sz="1300">
                <a:solidFill>
                  <a:srgbClr val="102A43"/>
                </a:solidFill>
              </a:rPr>
              <a:t>Four consistent reconstructions</a:t>
            </a:r>
          </a:p>
          <a:p>
            <a:r>
              <a:rPr sz="1300" b="1">
                <a:solidFill>
                  <a:srgbClr val="102A43"/>
                </a:solidFill>
              </a:rPr>
              <a:t>Calibration constraint holds across all four</a:t>
            </a:r>
          </a:p>
          <a:p/>
          <a:p>
            <a:r>
              <a:rPr sz="1300">
                <a:solidFill>
                  <a:srgbClr val="102A43"/>
                </a:solidFill>
              </a:rPr>
              <a:t>T2 / T3 / T4: identical methodology, paused on compute quota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i="1">
                <a:solidFill>
                  <a:srgbClr val="555555"/>
                </a:solidFill>
              </a:rPr>
              <a:t>slide 5 / 6  ·  Tier-1 ablation matrix  (n_rays = 64)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2A43"/>
                </a:solidFill>
              </a:rPr>
              <a:t>Where this is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92B"/>
                </a:solidFill>
              </a:rPr>
              <a:t>Production sweep — paused on compute</a:t>
            </a:r>
          </a:p>
          <a:p>
            <a:r>
              <a:rPr sz="1500">
                <a:solidFill>
                  <a:srgbClr val="102A43"/>
                </a:solidFill>
              </a:rPr>
              <a:t>•  12 cells remain  (Tiers 2–4 × 4 physics)</a:t>
            </a:r>
          </a:p>
          <a:p>
            <a:r>
              <a:rPr sz="1500">
                <a:solidFill>
                  <a:srgbClr val="102A43"/>
                </a:solidFill>
              </a:rPr>
              <a:t>•  ~820 GPU-hours total</a:t>
            </a:r>
          </a:p>
          <a:p>
            <a:r>
              <a:rPr sz="1500">
                <a:solidFill>
                  <a:srgbClr val="102A43"/>
                </a:solidFill>
              </a:rPr>
              <a:t>•  ~792 GPU-hr in Tier 4 alone  (96.5%)</a:t>
            </a:r>
          </a:p>
          <a:p>
            <a:r>
              <a:rPr sz="1500">
                <a:solidFill>
                  <a:srgbClr val="102A43"/>
                </a:solidFill>
              </a:rPr>
              <a:t>•  9 calendar days  @ 4-way parallel</a:t>
            </a:r>
          </a:p>
          <a:p>
            <a:r>
              <a:rPr sz="1500">
                <a:solidFill>
                  <a:srgbClr val="102A43"/>
                </a:solidFill>
              </a:rPr>
              <a:t>•  ≥12 GB VRAM, Ampere or newer</a:t>
            </a:r>
          </a:p>
          <a:p>
            <a:r>
              <a:rPr sz="1500">
                <a:solidFill>
                  <a:srgbClr val="102A43"/>
                </a:solidFill>
              </a:rPr>
              <a:t>•  Single-GPU per job, embarrassingly parallel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92B"/>
                </a:solidFill>
              </a:rPr>
              <a:t>Three downstream gates,  ready to run</a:t>
            </a:r>
          </a:p>
          <a:p>
            <a:r>
              <a:rPr sz="1500">
                <a:solidFill>
                  <a:srgbClr val="102A43"/>
                </a:solidFill>
              </a:rPr>
              <a:t>•  1D flux power spectrum  P_F(k_∥)</a:t>
            </a:r>
          </a:p>
          <a:p>
            <a:r>
              <a:rPr sz="1500">
                <a:solidFill>
                  <a:srgbClr val="102A43"/>
                </a:solidFill>
              </a:rPr>
              <a:t>•  Pearson  ξ_{ρ̂,ρ}(2 Mpc/h)</a:t>
            </a:r>
          </a:p>
          <a:p>
            <a:r>
              <a:rPr sz="1500">
                <a:solidFill>
                  <a:srgbClr val="102A43"/>
                </a:solidFill>
              </a:rPr>
              <a:t>•  Flux-PDF KS distance</a:t>
            </a:r>
          </a:p>
          <a:p/>
          <a:p>
            <a:r>
              <a:rPr sz="1500">
                <a:solidFill>
                  <a:srgbClr val="102A43"/>
                </a:solidFill>
              </a:rPr>
              <a:t>•  Implemented in src/analysis/{p_flux, cross_corr, flux_pdf}.py</a:t>
            </a:r>
          </a:p>
          <a:p>
            <a:r>
              <a:rPr sz="1500">
                <a:solidFill>
                  <a:srgbClr val="102A43"/>
                </a:solidFill>
              </a:rPr>
              <a:t>•  Awaiting Tier-3 fiducial cell to evaluate against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i="1">
                <a:solidFill>
                  <a:srgbClr val="102A43"/>
                </a:solidFill>
              </a:rPr>
              <a:t>The architecture is the easy part. The contribution is the differentiable forward model and the loss design that makes per-pixel supervision behave under heavy-tailed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i="1">
                <a:solidFill>
                  <a:srgbClr val="555555"/>
                </a:solidFill>
              </a:rPr>
              <a:t>slide 6 / 6  · 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