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– 0:20]</a:t>
            </a:r>
          </a:p>
          <a:p/>
          <a:p>
            <a:r>
              <a:t>I'll show you a NeRF variant for an unusual reconstruction problem: recovering</a:t>
            </a:r>
          </a:p>
          <a:p>
            <a:r>
              <a:t>a 3D field of intergalactic gas from sparse 1D absorption spectra. The</a:t>
            </a:r>
          </a:p>
          <a:p>
            <a:r>
              <a:t>architecture is NeRF; the rendering operator is physics. The contribution is</a:t>
            </a:r>
          </a:p>
          <a:p>
            <a:r>
              <a:t>how those two things glue together.</a:t>
            </a:r>
          </a:p>
          <a:p/>
          <a:p>
            <a:r>
              <a:t>I'll spend the first minute on the astrophysical setup so the analogy makes</a:t>
            </a:r>
          </a:p>
          <a:p>
            <a:r>
              <a:t>sense, then four minutes on the method, results, and what's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 – 1:20]</a:t>
            </a:r>
          </a:p>
          <a:p/>
          <a:p>
            <a:r>
              <a:t>Quick orientation. The volume on top is a 60 Mpc-per-h cube — the size of a</a:t>
            </a:r>
          </a:p>
          <a:p>
            <a:r>
              <a:t>piece of the universe at redshift 0.3. It comes from the Sherwood</a:t>
            </a:r>
          </a:p>
          <a:p>
            <a:r>
              <a:t>hydrodynamic simulation, which evolves dark matter and gas under gravity</a:t>
            </a:r>
          </a:p>
          <a:p>
            <a:r>
              <a:t>plus four different feedback recipes. The gas inside the box is described</a:t>
            </a:r>
          </a:p>
          <a:p>
            <a:r>
              <a:t>by four scalar fields at every point: density rho, temperature T, neutral</a:t>
            </a:r>
          </a:p>
          <a:p>
            <a:r>
              <a:t>hydrogen fraction X_HI, and peculiar velocity v_pec — that last one is gas</a:t>
            </a:r>
          </a:p>
          <a:p>
            <a:r>
              <a:t>motion relative to the Hubble flow.</a:t>
            </a:r>
          </a:p>
          <a:p/>
          <a:p>
            <a:r>
              <a:t>The yellow line is a sightline. A bright background quasar emits across the</a:t>
            </a:r>
          </a:p>
          <a:p>
            <a:r>
              <a:t>electromagnetic spectrum; gas in the foreground absorbs at the Lyman-alpha</a:t>
            </a:r>
          </a:p>
          <a:p>
            <a:r>
              <a:t>line of neutral hydrogen — at 1216 angstroms in the rest frame, redshifted</a:t>
            </a:r>
          </a:p>
          <a:p>
            <a:r>
              <a:t>into the visible. The amount of absorption at each velocity along that line</a:t>
            </a:r>
          </a:p>
          <a:p>
            <a:r>
              <a:t>is set by how much neutral hydrogen the photon encountered, weighted by a</a:t>
            </a:r>
          </a:p>
          <a:p>
            <a:r>
              <a:t>Voigt profile that depends on local temperature and gas motion.</a:t>
            </a:r>
          </a:p>
          <a:p/>
          <a:p>
            <a:r>
              <a:t>The result is the bottom plot — what an observer's spectrograph sees: a 1D</a:t>
            </a:r>
          </a:p>
          <a:p>
            <a:r>
              <a:t>optical-depth profile as a function of observed velocity. Most of it is the</a:t>
            </a:r>
          </a:p>
          <a:p>
            <a:r>
              <a:t>'Lyman-alpha forest' — many narrow absorbers from underdense gas. A tiny</a:t>
            </a:r>
          </a:p>
          <a:p>
            <a:r>
              <a:t>fraction of sightlines hit dense neutral systems and saturate completely;</a:t>
            </a:r>
          </a:p>
          <a:p>
            <a:r>
              <a:t>those are the heavy-tailed outliers.</a:t>
            </a:r>
          </a:p>
          <a:p/>
          <a:p>
            <a:r>
              <a:t>Surveys like DESI will give us millions of these spectra — one ray, one</a:t>
            </a:r>
          </a:p>
          <a:p>
            <a:r>
              <a:t>spectrum. The reconstruction question is: how do we recover the 3D fields</a:t>
            </a:r>
          </a:p>
          <a:p>
            <a:r>
              <a:t>from a few hundred to a few thousand of these rays?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 – 2:00]</a:t>
            </a:r>
          </a:p>
          <a:p/>
          <a:p>
            <a:r>
              <a:t>Why NeRF? Look at the analogy column-by-column.</a:t>
            </a:r>
          </a:p>
          <a:p/>
          <a:p>
            <a:r>
              <a:t>3D position: the same — both are 3D scene coordinates.</a:t>
            </a:r>
          </a:p>
          <a:p/>
          <a:p>
            <a:r>
              <a:t>Positional encoding: identical. Cosmic structure is filaments + voids —</a:t>
            </a:r>
          </a:p>
          <a:p>
            <a:r>
              <a:t>high-frequency, multi-scale. Same Fourier basis at L=10.</a:t>
            </a:r>
          </a:p>
          <a:p/>
          <a:p>
            <a:r>
              <a:t>Density: in NeRF, sigma is opacity per unit length along the ray. In our</a:t>
            </a:r>
          </a:p>
          <a:p>
            <a:r>
              <a:t>case, the analogue is the neutral hydrogen density — gas density times</a:t>
            </a:r>
          </a:p>
          <a:p>
            <a:r>
              <a:t>ionization fraction — and it determines how much absorption happens per</a:t>
            </a:r>
          </a:p>
          <a:p>
            <a:r>
              <a:t>unit length.</a:t>
            </a:r>
          </a:p>
          <a:p/>
          <a:p>
            <a:r>
              <a:t>Color: in NeRF, color at a sample depends on direction. Our analogue is the</a:t>
            </a:r>
          </a:p>
          <a:p>
            <a:r>
              <a:t>Voigt absorption kernel — which photons get absorbed at this sample as a</a:t>
            </a:r>
          </a:p>
          <a:p>
            <a:r>
              <a:t>function of velocity offset. Crucially, ours is a *known closed-form* with</a:t>
            </a:r>
          </a:p>
          <a:p>
            <a:r>
              <a:t>a *known dependence* on local temperature, not a learned head.</a:t>
            </a:r>
          </a:p>
          <a:p/>
          <a:p>
            <a:r>
              <a:t>View direction: NeRF needs it because reflected light is angle-dependent.</a:t>
            </a:r>
          </a:p>
          <a:p>
            <a:r>
              <a:t>We don't — gas density doesn't change with viewing angle. There's a</a:t>
            </a:r>
          </a:p>
          <a:p>
            <a:r>
              <a:t>peculiar-velocity Doppler effect that *would* depend on viewing direction</a:t>
            </a:r>
          </a:p>
          <a:p>
            <a:r>
              <a:t>in principle, but Sherwood sightlines are pre-aligned along the simulation</a:t>
            </a:r>
          </a:p>
          <a:p>
            <a:r>
              <a:t>z-axis, so we predict only the LOS-projected velocity.</a:t>
            </a:r>
          </a:p>
          <a:p/>
          <a:p>
            <a:r>
              <a:t>Volume rendering integral: line integral along the ray. Same structure.</a:t>
            </a:r>
          </a:p>
          <a:p>
            <a:r>
              <a:t>Different operator.</a:t>
            </a:r>
          </a:p>
          <a:p/>
          <a:p>
            <a:r>
              <a:t>The MLP doesn't care which integral it's feeding — autograd handles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 – 2:50]</a:t>
            </a:r>
          </a:p>
          <a:p/>
          <a:p>
            <a:r>
              <a:t>Concretely: same MLP, same Fourier encoding at L=10, same skip connection</a:t>
            </a:r>
          </a:p>
          <a:p>
            <a:r>
              <a:t>at layer 4. The first half of the network is byte-identical to Mildenhall.</a:t>
            </a:r>
          </a:p>
          <a:p/>
          <a:p>
            <a:r>
              <a:t>Salmon boxes are where we diverge:</a:t>
            </a:r>
          </a:p>
          <a:p/>
          <a:p>
            <a:r>
              <a:t>The input: 3D, no view direction.</a:t>
            </a:r>
          </a:p>
          <a:p/>
          <a:p>
            <a:r>
              <a:t>The output head: four physical fields with bounded activations to enforce</a:t>
            </a:r>
          </a:p>
          <a:p>
            <a:r>
              <a:t>positivity and realistic ranges. Density and temperature are softplus-ed,</a:t>
            </a:r>
          </a:p>
          <a:p>
            <a:r>
              <a:t>ionization fraction is sigmoid, peculiar velocity is tanh-rescaled to a</a:t>
            </a:r>
          </a:p>
          <a:p>
            <a:r>
              <a:t>physical band of plus or minus 500 km per second.</a:t>
            </a:r>
          </a:p>
          <a:p/>
          <a:p>
            <a:r>
              <a:t>The rendering operator: the Voigt-Hjerting kernel convolved with redshift-</a:t>
            </a:r>
          </a:p>
          <a:p>
            <a:r>
              <a:t>space distortion, instead of the radiance integral.</a:t>
            </a:r>
          </a:p>
          <a:p/>
          <a:p>
            <a:r>
              <a:t>Bottom line: NeRF's representation, physics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[2:50 – 3:50]</a:t>
            </a:r>
          </a:p>
          <a:p/>
          <a:p>
            <a:r>
              <a:t>The forward model. One equation. Optical depth at observation velocity v_obs</a:t>
            </a:r>
          </a:p>
          <a:p>
            <a:r>
              <a:t>is a sum over source bins of gas density times the Voigt absorption kernel.</a:t>
            </a:r>
          </a:p>
          <a:p/>
          <a:p>
            <a:r>
              <a:t>CV translation: n_HI plays the role of σ — local opacity. H(a,x) is the</a:t>
            </a:r>
          </a:p>
          <a:p>
            <a:r>
              <a:t>radiance equivalent — but it's a known closed-form kernel, not a learned</a:t>
            </a:r>
          </a:p>
          <a:p>
            <a:r>
              <a:t>function. b is the thermal Doppler width — kernel bandwidth, varying across</a:t>
            </a:r>
          </a:p>
          <a:p>
            <a:r>
              <a:t>the volume because temperature does. 𝒜 is a single learnable amplitude</a:t>
            </a:r>
          </a:p>
          <a:p>
            <a:r>
              <a:t>absorbing all global constants.</a:t>
            </a:r>
          </a:p>
          <a:p/>
          <a:p>
            <a:r>
              <a:t>Crucially, the kernel argument x depends on peculiar velocity — gas motion</a:t>
            </a:r>
          </a:p>
          <a:p>
            <a:r>
              <a:t>shifts the absorption frequency along v_obs. This is redshift-space</a:t>
            </a:r>
          </a:p>
          <a:p>
            <a:r>
              <a:t>distortion. It enters the convolution kernel itself.</a:t>
            </a:r>
          </a:p>
          <a:p/>
          <a:p>
            <a:r>
              <a:t>This entire forward pass is autograd-compatible. We added a numerical Taylor</a:t>
            </a:r>
          </a:p>
          <a:p>
            <a:r>
              <a:t>branch for the kernel near zero — small detail, but it disarms an attack</a:t>
            </a:r>
          </a:p>
          <a:p>
            <a:r>
              <a:t>vector at the line center where the analytic limit has a removable</a:t>
            </a:r>
          </a:p>
          <a:p>
            <a:r>
              <a:t>singularity.</a:t>
            </a:r>
          </a:p>
          <a:p/>
          <a:p>
            <a:r>
              <a:t>Loss. The targets are optical depths. Most of the volume is τ in zero to</a:t>
            </a:r>
          </a:p>
          <a:p>
            <a:r>
              <a:t>five. A tiny fraction — damped Lyman-alpha systems — has τ at ten million.</a:t>
            </a:r>
          </a:p>
          <a:p>
            <a:r>
              <a:t>Per-pixel MSE collapses onto these.</a:t>
            </a:r>
          </a:p>
          <a:p/>
          <a:p>
            <a:r>
              <a:t>Three coupled fixes:</a:t>
            </a:r>
          </a:p>
          <a:p>
            <a:r>
              <a:t>1. Mask out the saturated cores entirely.</a:t>
            </a:r>
          </a:p>
          <a:p>
            <a:r>
              <a:t>2. Cap the surviving forest at τ_max equals ten. We did NOT pick this</a:t>
            </a:r>
          </a:p>
          <a:p>
            <a:r>
              <a:t>   number. We ran a sensitivity sweep at τ_max in 5, 10, 20 and the</a:t>
            </a:r>
          </a:p>
          <a:p>
            <a:r>
              <a:t>   change in downstream flux power was 0.018 percent — two orders of</a:t>
            </a:r>
          </a:p>
          <a:p>
            <a:r>
              <a:t>   magnitude under the pass criterion. The figure shows that gate.</a:t>
            </a:r>
          </a:p>
          <a:p>
            <a:r>
              <a:t>3. Log1p-transform before MSE. The IGM opacity distribution is</a:t>
            </a:r>
          </a:p>
          <a:p>
            <a:r>
              <a:t>   approximately log-normal. Log-space supervision matches the natural</a:t>
            </a:r>
          </a:p>
          <a:p>
            <a:r>
              <a:t>   noise model — analogous to log-depth supervision in CV.</a:t>
            </a:r>
          </a:p>
          <a:p/>
          <a:p>
            <a:r>
              <a:t>Each part is physically motivated, not tuned.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[3:50 – 4:30]</a:t>
            </a:r>
          </a:p>
          <a:p/>
          <a:p>
            <a:r>
              <a:t>Here's what's done. Four physics variants — same dark matter, different</a:t>
            </a:r>
          </a:p>
          <a:p>
            <a:r>
              <a:t>feedback recipes (no feedback, stellar wind only, stellar wind plus AGN,</a:t>
            </a:r>
          </a:p>
          <a:p>
            <a:r>
              <a:t>strong AGN). Each gets its own MLP fit.</a:t>
            </a:r>
          </a:p>
          <a:p/>
          <a:p>
            <a:r>
              <a:t>At Tier-1 sparsity — 64 sightlines through the 60 Mpc box — every variant</a:t>
            </a:r>
          </a:p>
          <a:p>
            <a:r>
              <a:t>recovers the mean transmitted flux to within 0.66 percent across the four</a:t>
            </a:r>
          </a:p>
          <a:p>
            <a:r>
              <a:t>physics: 0.9247 to 0.9308, against the observational anchor 0.877.</a:t>
            </a:r>
          </a:p>
          <a:p/>
          <a:p>
            <a:r>
              <a:t>Cell entries are mean-flux divided by the learned amplitude 𝒜.</a:t>
            </a:r>
          </a:p>
          <a:p/>
          <a:p>
            <a:r>
              <a:t>The empty cells are the rest of the 4×4 ablation matrix — sightline</a:t>
            </a:r>
          </a:p>
          <a:p>
            <a:r>
              <a:t>densities of 256, 1024, and 16,384. The architecture is identical; the</a:t>
            </a:r>
          </a:p>
          <a:p>
            <a:r>
              <a:t>compute is the gate. Tier 4 alone is 792 GPU-hours.</a:t>
            </a:r>
          </a:p>
          <a:p/>
          <a:p>
            <a:r>
              <a:t>Across the matrix, the headline claim is the *degradation curve* — how</a:t>
            </a:r>
          </a:p>
          <a:p>
            <a:r>
              <a:t>reconstruction quality drops as sightlines get sparser. That's the CVPR</a:t>
            </a:r>
          </a:p>
          <a:p>
            <a:r>
              <a:t>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 – 5:00]</a:t>
            </a:r>
          </a:p>
          <a:p/>
          <a:p>
            <a:r>
              <a:t>What's next. Production sweep across the remaining 12 cells of the ablation</a:t>
            </a:r>
          </a:p>
          <a:p>
            <a:r>
              <a:t>matrix. Three downstream evaluators are implemented and waiting: 1D flux</a:t>
            </a:r>
          </a:p>
          <a:p>
            <a:r>
              <a:t>power spectrum, Pearson cross-correlation between predicted and ground-truth</a:t>
            </a:r>
          </a:p>
          <a:p>
            <a:r>
              <a:t>density, and Kolmogorov-Smirnov distance on the flux PDF.</a:t>
            </a:r>
          </a:p>
          <a:p/>
          <a:p>
            <a:r>
              <a:t>Resource ask: ~820 GPU-hours, four GPUs in parallel, nine calendar days,</a:t>
            </a:r>
          </a:p>
          <a:p>
            <a:r>
              <a:t>≥12 GB VRAM, single-GPU per job. Compatible with any modern data-center</a:t>
            </a:r>
          </a:p>
          <a:p>
            <a:r>
              <a:t>or HPC cluster.</a:t>
            </a:r>
          </a:p>
          <a:p/>
          <a:p>
            <a:r>
              <a:t>Final framing — and this is the line to land:</a:t>
            </a:r>
          </a:p>
          <a:p/>
          <a:p>
            <a:r>
              <a:t>The architecture is the easy part. The contribution is the differentiable</a:t>
            </a:r>
          </a:p>
          <a:p>
            <a:r>
              <a:t>forward model and the loss design that makes per-pixel supervision behave</a:t>
            </a:r>
          </a:p>
          <a:p>
            <a:r>
              <a:t>under heavy-tailed targets. NeRF turned out to be the right representation</a:t>
            </a:r>
          </a:p>
          <a:p>
            <a:r>
              <a:t>for this problem — continuous, sparse-input-friendly, autograd-clean.</a:t>
            </a:r>
          </a:p>
          <a:p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02A43"/>
                </a:solidFill>
              </a:rPr>
              <a:t>IGM NeRF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555555"/>
                </a:solidFill>
              </a:rPr>
              <a:t>3D reconstruction of intergalactic gas from 1D quasar absorption spectra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102A43"/>
                </a:solidFill>
              </a:rPr>
              <a:t>We took NeRF's continuous-field representation and replaced its rendering</a:t>
            </a:r>
            <a:br/>
            <a:r>
              <a:rPr sz="1800" i="1">
                <a:solidFill>
                  <a:srgbClr val="102A43"/>
                </a:solidFill>
              </a:rPr>
              <a:t>operator with physics. The same MLP backbone now reconstructs cosmological</a:t>
            </a:r>
            <a:br/>
            <a:r>
              <a:rPr sz="1800" i="1">
                <a:solidFill>
                  <a:srgbClr val="102A43"/>
                </a:solidFill>
              </a:rPr>
              <a:t>gas density from sparse 1D absorption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</a:rPr>
              <a:t>5-minute talk · slide 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</a:rPr>
              <a:t>What we are looking at: cosmological gas + quasar spectra</a:t>
            </a:r>
          </a:p>
        </p:txBody>
      </p:sp>
      <p:pic>
        <p:nvPicPr>
          <p:cNvPr id="3" name="Picture 2" descr="cosmological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6938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02A43"/>
                </a:solidFill>
              </a:rPr>
              <a:t>Each sightline gives us one absorption spectrum  —  thousands of rays is what we have to reconstruct the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</a:rPr>
              <a:t>slide 2 / 7  ·  the astrophysical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</a:rPr>
              <a:t>Why this looks like a NeRF problem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846320"/>
              </a:tblGrid>
              <a:tr h="692331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102A43"/>
                          </a:solidFill>
                        </a:rPr>
                        <a:t>NeRF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102A43"/>
                          </a:solidFill>
                        </a:rPr>
                        <a:t>IGM NeRF analogue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102A43"/>
                          </a:solidFill>
                        </a:rPr>
                        <a:t>Why the analogy holds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3D position  $(x, y, z)$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</a:rPr>
                        <a:t>Comoving position in the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Both index a 3D scalar/vector field over a bounded scene.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Positional encoding  γ(x)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</a:rPr>
                        <a:t>Fourier features, identical (L =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Cosmic structure is multi-scale: filaments + voids → high-frequency basis.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Volume density  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</a:rPr>
                        <a:t>Neutral hydrogen density  n_HI = ρ · X_HI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Both are 'opacity per unit length' along a ray.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View-dependent color  c(x,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</a:rPr>
                        <a:t>Voigt absorption kernel  H(a, x) / (b√π)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The 'what gets emitted/absorbed at a sample' function — but ours is a known closed-form, not learned.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View direction  (θ, 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</a:rPr>
                        <a:t>Line-of-sight orientation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Sherwood sightlines are pre-aligned along z, so we predict only the LOS-projected v_pec — no view conditioning needed.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Volume rendering integral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</a:rPr>
                        <a:t>Optical depth integral (Voigt + RSD)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02A43"/>
                          </a:solidFill>
                        </a:rPr>
                        <a:t>Both are line integrals along a camera ray. Ours is convolutional in velocity space.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</a:rPr>
              <a:t>slide 3 / 7  ·  the analogy bridge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</a:rPr>
              <a:t>What we kept from NeRF, what we replaced</a:t>
            </a:r>
          </a:p>
        </p:txBody>
      </p:sp>
      <p:pic>
        <p:nvPicPr>
          <p:cNvPr id="3" name="Picture 2" descr="nerf_vs_igmnerf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87665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</a:rPr>
              <a:t>slide 4 / 7  ·  side-by-side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</a:rPr>
              <a:t>Differentiable physics rendering + loss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Optical-depth rendering</a:t>
            </a:r>
          </a:p>
          <a:p>
            <a:r>
              <a:rPr sz="2000" b="1">
                <a:solidFill>
                  <a:srgbClr val="102A43"/>
                </a:solidFill>
              </a:rPr>
              <a:t>τ(v_obs)  =  𝒜 · Σ_src  n_HI · H(a, x) / (b√π)</a:t>
            </a:r>
          </a:p>
          <a:p/>
          <a:p>
            <a:r>
              <a:rPr sz="1300" i="1">
                <a:solidFill>
                  <a:srgbClr val="555555"/>
                </a:solidFill>
              </a:rPr>
              <a:t>CV mapping:</a:t>
            </a:r>
          </a:p>
          <a:p>
            <a:r>
              <a:rPr sz="1200">
                <a:solidFill>
                  <a:srgbClr val="102A43"/>
                </a:solidFill>
              </a:rPr>
              <a:t>•  n_HI  ↔  σ in NeRF  (positive opacity)</a:t>
            </a:r>
          </a:p>
          <a:p>
            <a:r>
              <a:rPr sz="1200">
                <a:solidFill>
                  <a:srgbClr val="102A43"/>
                </a:solidFill>
              </a:rPr>
              <a:t>•  H(a, x)  ↔  c (radiance) — closed-form kernel</a:t>
            </a:r>
          </a:p>
          <a:p>
            <a:r>
              <a:rPr sz="1200">
                <a:solidFill>
                  <a:srgbClr val="102A43"/>
                </a:solidFill>
              </a:rPr>
              <a:t>•  v_obs  ↔  pixel coordinate (1D here)</a:t>
            </a:r>
          </a:p>
          <a:p>
            <a:r>
              <a:rPr sz="1200">
                <a:solidFill>
                  <a:srgbClr val="102A43"/>
                </a:solidFill>
              </a:rPr>
              <a:t>•  𝒜  ↔  global brightness scalar (one learnable)</a:t>
            </a:r>
          </a:p>
          <a:p>
            <a:r>
              <a:rPr sz="1200">
                <a:solidFill>
                  <a:srgbClr val="102A43"/>
                </a:solidFill>
              </a:rPr>
              <a:t>•  b(T)  =  thermal Doppler width  =  kernel bandwidth, T-dependent</a:t>
            </a:r>
          </a:p>
          <a:p>
            <a:r>
              <a:rPr sz="1200">
                <a:solidFill>
                  <a:srgbClr val="102A43"/>
                </a:solidFill>
              </a:rPr>
              <a:t>•  x  =  (v_obs − v_src − v_pec) / b   →  RSD enters via v_pec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0058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Loss design (the methods contribution)</a:t>
            </a:r>
          </a:p>
          <a:p/>
          <a:p>
            <a:r>
              <a:rPr sz="1500" b="1">
                <a:solidFill>
                  <a:srgbClr val="102A43"/>
                </a:solidFill>
              </a:rPr>
              <a:t>ℒ = ⟨ ( log(1+τ̂_eff) − log(1+τ_eff) )² ⟩_non-DLA</a:t>
            </a:r>
          </a:p>
          <a:p>
            <a:r>
              <a:rPr sz="1200" i="1">
                <a:solidFill>
                  <a:srgbClr val="555555"/>
                </a:solidFill>
              </a:rPr>
              <a:t>with  τ_eff = min(τ, τ_max=10)   +   saturated-absorber mask</a:t>
            </a:r>
          </a:p>
          <a:p/>
          <a:p>
            <a:r>
              <a:rPr sz="1300" b="1">
                <a:solidFill>
                  <a:srgbClr val="102A43"/>
                </a:solidFill>
              </a:rPr>
              <a:t>Three coupled rulings:</a:t>
            </a:r>
          </a:p>
          <a:p>
            <a:r>
              <a:rPr sz="1100">
                <a:solidFill>
                  <a:srgbClr val="102A43"/>
                </a:solidFill>
              </a:rPr>
              <a:t>(1)  Mask saturated cores (τ ≈ 10⁷ outliers)</a:t>
            </a:r>
          </a:p>
          <a:p>
            <a:r>
              <a:rPr sz="1100">
                <a:solidFill>
                  <a:srgbClr val="102A43"/>
                </a:solidFill>
              </a:rPr>
              <a:t>(2)  Cap forest at τ_max = 10 — calibrated, not chosen</a:t>
            </a:r>
          </a:p>
          <a:p>
            <a:r>
              <a:rPr sz="1100">
                <a:solidFill>
                  <a:srgbClr val="555555"/>
                </a:solidFill>
              </a:rPr>
              <a:t>      sensitivity:  max |ΔP_F/P_F|  ≤  0.018 %</a:t>
            </a:r>
          </a:p>
          <a:p>
            <a:r>
              <a:rPr sz="1100">
                <a:solidFill>
                  <a:srgbClr val="555555"/>
                </a:solidFill>
              </a:rPr>
              <a:t>      (~100× under the 2 % pass criterion)</a:t>
            </a:r>
          </a:p>
          <a:p>
            <a:r>
              <a:rPr sz="1100">
                <a:solidFill>
                  <a:srgbClr val="102A43"/>
                </a:solidFill>
              </a:rPr>
              <a:t>(3)  log-space supervision  ↔  IGM opacity is log-normal</a:t>
            </a:r>
          </a:p>
        </p:txBody>
      </p:sp>
      <p:pic>
        <p:nvPicPr>
          <p:cNvPr id="5" name="Picture 4" descr="tau_max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83280"/>
            <a:ext cx="5943600" cy="46367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33832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2A43"/>
                </a:solidFill>
              </a:rPr>
              <a:t>Why log1p?  The IGM opacity distribution is approximately log-normal (Fluctuating Gunn-Peterson Approximation; Bi &amp; Davidsen 1997). Log-space supervision matches the natural noise model — analogous to log-depth supervision in CV.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τ_max sensitivity gate — change in 1D flux power across τ_max ∈ {5,10,20}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</a:rPr>
              <a:t>slide 5 / 7  ·  forward model +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</a:rPr>
              <a:t>Result: Tier-1 across four feedback variants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47548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</a:rPr>
                        <a:t>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</a:rPr>
                        <a:t>T1  (n=64)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</a:rPr>
                        <a:t>T2  (n=256)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</a:rPr>
                        <a:t>T3  (n=1024)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</a:rPr>
                        <a:t>T4  (n=16,384)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P1  (no fdbk)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0.9282 / 1.224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P2  (wind)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0.9247 / 2.315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P3  (wind+AGN)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0.9275 / 2.038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P4  (strong AGN)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0.9308 / 1.955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Cell:  ⟨F⟩_pred / 𝒜  at the production schedule  (50,000 steps each).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2A43"/>
                </a:solidFill>
              </a:rPr>
              <a:t>Mean-flux spread across four physics:  0.9247 → 0.9308   (0.66 %)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17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Well within the 5 % calibration tolerance vs the observational anchor (Danforth+ 2016, ⟨F⟩_obs = 0.877 ± 15 % at z = 0.3).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What this shows</a:t>
            </a:r>
          </a:p>
          <a:p>
            <a:r>
              <a:rPr sz="1300">
                <a:solidFill>
                  <a:srgbClr val="102A43"/>
                </a:solidFill>
              </a:rPr>
              <a:t>Same architecture</a:t>
            </a:r>
          </a:p>
          <a:p>
            <a:r>
              <a:rPr sz="1300">
                <a:solidFill>
                  <a:srgbClr val="102A43"/>
                </a:solidFill>
              </a:rPr>
              <a:t>Same loss</a:t>
            </a:r>
          </a:p>
          <a:p>
            <a:r>
              <a:rPr sz="1300">
                <a:solidFill>
                  <a:srgbClr val="102A43"/>
                </a:solidFill>
              </a:rPr>
              <a:t>Same hyperparameters</a:t>
            </a:r>
          </a:p>
          <a:p/>
          <a:p>
            <a:r>
              <a:rPr sz="1300">
                <a:solidFill>
                  <a:srgbClr val="102A43"/>
                </a:solidFill>
              </a:rPr>
              <a:t>Four different physics priors</a:t>
            </a:r>
          </a:p>
          <a:p>
            <a:r>
              <a:rPr sz="1300">
                <a:solidFill>
                  <a:srgbClr val="102A43"/>
                </a:solidFill>
              </a:rPr>
              <a:t>Four consistent reconstructions</a:t>
            </a:r>
          </a:p>
          <a:p>
            <a:r>
              <a:rPr sz="1300" b="1">
                <a:solidFill>
                  <a:srgbClr val="102A43"/>
                </a:solidFill>
              </a:rPr>
              <a:t>Calibration constraint holds across all four</a:t>
            </a:r>
          </a:p>
          <a:p/>
          <a:p>
            <a:r>
              <a:rPr sz="1300">
                <a:solidFill>
                  <a:srgbClr val="102A43"/>
                </a:solidFill>
              </a:rPr>
              <a:t>T2 / T3 / T4: identical methodology, paused on compute quota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</a:rPr>
              <a:t>slide 6 / 7  ·  Tier-1 ablation matrix  (n_rays = 64)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</a:rPr>
              <a:t>Where this is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Production sweep — paused on compute</a:t>
            </a:r>
          </a:p>
          <a:p>
            <a:r>
              <a:rPr sz="1500">
                <a:solidFill>
                  <a:srgbClr val="102A43"/>
                </a:solidFill>
              </a:rPr>
              <a:t>•  12 cells remain  (Tiers 2-4 × 4 physics)</a:t>
            </a:r>
          </a:p>
          <a:p>
            <a:r>
              <a:rPr sz="1500">
                <a:solidFill>
                  <a:srgbClr val="102A43"/>
                </a:solidFill>
              </a:rPr>
              <a:t>•  ~820 GPU-hours total</a:t>
            </a:r>
          </a:p>
          <a:p>
            <a:r>
              <a:rPr sz="1500">
                <a:solidFill>
                  <a:srgbClr val="102A43"/>
                </a:solidFill>
              </a:rPr>
              <a:t>•  ~792 GPU-hr in Tier 4 alone  (96.5 %)</a:t>
            </a:r>
          </a:p>
          <a:p>
            <a:r>
              <a:rPr sz="1500">
                <a:solidFill>
                  <a:srgbClr val="102A43"/>
                </a:solidFill>
              </a:rPr>
              <a:t>•  9 calendar days  @ 4-way parallel</a:t>
            </a:r>
          </a:p>
          <a:p>
            <a:r>
              <a:rPr sz="1500">
                <a:solidFill>
                  <a:srgbClr val="102A43"/>
                </a:solidFill>
              </a:rPr>
              <a:t>•  ≥ 12 GB VRAM, Ampere or newer</a:t>
            </a:r>
          </a:p>
          <a:p>
            <a:r>
              <a:rPr sz="1500">
                <a:solidFill>
                  <a:srgbClr val="102A43"/>
                </a:solidFill>
              </a:rPr>
              <a:t>•  Single-GPU per job, embarrassingly parallel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Three downstream gates,  ready to run</a:t>
            </a:r>
          </a:p>
          <a:p>
            <a:r>
              <a:rPr sz="1500">
                <a:solidFill>
                  <a:srgbClr val="102A43"/>
                </a:solidFill>
              </a:rPr>
              <a:t>•  1D flux power spectrum  P_F(k_∥)</a:t>
            </a:r>
          </a:p>
          <a:p>
            <a:r>
              <a:rPr sz="1500">
                <a:solidFill>
                  <a:srgbClr val="102A43"/>
                </a:solidFill>
              </a:rPr>
              <a:t>•  Pearson  ξ_{ρ̂,ρ}(2 Mpc/h)</a:t>
            </a:r>
          </a:p>
          <a:p>
            <a:r>
              <a:rPr sz="1500">
                <a:solidFill>
                  <a:srgbClr val="102A43"/>
                </a:solidFill>
              </a:rPr>
              <a:t>•  Flux-PDF KS distance</a:t>
            </a:r>
          </a:p>
          <a:p/>
          <a:p>
            <a:r>
              <a:rPr sz="1500">
                <a:solidFill>
                  <a:srgbClr val="102A43"/>
                </a:solidFill>
              </a:rPr>
              <a:t>•  Implemented in src/analysis/{p_flux, cross_corr, flux_pdf}.py</a:t>
            </a:r>
          </a:p>
          <a:p>
            <a:r>
              <a:rPr sz="1500">
                <a:solidFill>
                  <a:srgbClr val="102A43"/>
                </a:solidFill>
              </a:rPr>
              <a:t>•  Awaiting Tier-3 fiducial cell to evaluate against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02A43"/>
                </a:solidFill>
              </a:rPr>
              <a:t>The architecture is the easy part. The contribution is the differentiable forward model and the loss design that makes per-pixel supervision behave under heavy-tailed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</a:rPr>
              <a:t>slide 7 / 7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