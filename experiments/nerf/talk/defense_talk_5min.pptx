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F7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5859" autoAdjust="0"/>
  </p:normalViewPr>
  <p:slideViewPr>
    <p:cSldViewPr snapToGrid="0" snapToObjects="1">
      <p:cViewPr varScale="1">
        <p:scale>
          <a:sx n="83" d="100"/>
          <a:sy n="83" d="100"/>
        </p:scale>
        <p:origin x="1084" y="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598094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US" altLang="ko-KR" strike="sngStrike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altLang="ko-KR" dirty="0">
                <a:effectLst/>
              </a:rPr>
              <a:t>"The data comes from the quasar absorption spectra: light from distant quasars passes through intergalactic cosmic  gas and gets partially absorbed. Each quasar gives us one long 1D spectrum — a single ray through the 3D volume.</a:t>
            </a:r>
          </a:p>
          <a:p>
            <a:endParaRPr lang="en-US" altLang="ko-KR" dirty="0">
              <a:effectLst/>
            </a:endParaRPr>
          </a:p>
          <a:p>
            <a:r>
              <a:rPr lang="en-US" altLang="ko-KR" dirty="0">
                <a:effectLst/>
              </a:rPr>
              <a:t>This is a classic </a:t>
            </a:r>
            <a:r>
              <a:rPr lang="en-US" altLang="ko-KR" b="1" dirty="0">
                <a:effectLst/>
              </a:rPr>
              <a:t>sparse-view 3D reconstruction</a:t>
            </a:r>
            <a:r>
              <a:rPr lang="en-US" altLang="ko-KR" dirty="0">
                <a:effectLst/>
              </a:rPr>
              <a:t> problem, but with three unusual challenges:</a:t>
            </a:r>
          </a:p>
          <a:p>
            <a:endParaRPr lang="en-US" altLang="ko-KR" dirty="0">
              <a:effectLst/>
            </a:endParaRPr>
          </a:p>
          <a:p>
            <a:pPr marL="228600" indent="-228600">
              <a:buAutoNum type="arabicPeriod"/>
            </a:pPr>
            <a:r>
              <a:rPr lang="en-US" altLang="ko-KR" dirty="0"/>
              <a:t>Observations are </a:t>
            </a:r>
            <a:r>
              <a:rPr lang="en-US" altLang="ko-KR" b="1" dirty="0"/>
              <a:t>1D spectra</a:t>
            </a:r>
            <a:r>
              <a:rPr lang="en-US" altLang="ko-KR" dirty="0"/>
              <a:t>, not 2D images.</a:t>
            </a:r>
          </a:p>
          <a:p>
            <a:pPr marL="228600" indent="-228600">
              <a:buAutoNum type="arabicPeriod"/>
            </a:pPr>
            <a:endParaRPr lang="en-US" altLang="ko-KR" dirty="0"/>
          </a:p>
          <a:p>
            <a:r>
              <a:rPr lang="en-US" altLang="ko-KR" dirty="0"/>
              <a:t>2. The forward model is a </a:t>
            </a:r>
            <a:r>
              <a:rPr lang="en-US" altLang="ko-KR" b="1" dirty="0"/>
              <a:t>known nonlinear physics operator</a:t>
            </a:r>
            <a:r>
              <a:rPr lang="en-US" altLang="ko-KR" dirty="0"/>
              <a:t> (optical depth integral), not learned rendering.</a:t>
            </a:r>
          </a:p>
          <a:p>
            <a:endParaRPr lang="en-US" altLang="ko-KR" dirty="0"/>
          </a:p>
          <a:p>
            <a:r>
              <a:rPr lang="en-US" altLang="ko-KR" dirty="0"/>
              <a:t>3. The signal is </a:t>
            </a:r>
            <a:r>
              <a:rPr lang="en-US" altLang="ko-KR" b="1" dirty="0"/>
              <a:t>heavily heavy-tailed</a:t>
            </a:r>
            <a:r>
              <a:rPr lang="en-US" altLang="ko-KR" dirty="0"/>
              <a:t> — most values are small, but rare dense clouds create extremely deep absorption spikes (τ up to 10⁷), </a:t>
            </a:r>
          </a:p>
          <a:p>
            <a:r>
              <a:rPr lang="en-US" altLang="ko-KR" dirty="0"/>
              <a:t>where normal per-pixel Mean Square Error would fail on this."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altLang="ko-KR" dirty="0">
                <a:effectLst/>
              </a:rPr>
              <a:t>Here is  how I mapped the original </a:t>
            </a:r>
            <a:r>
              <a:rPr lang="en-US" altLang="ko-KR" dirty="0" err="1">
                <a:effectLst/>
              </a:rPr>
              <a:t>NeRF</a:t>
            </a:r>
            <a:r>
              <a:rPr lang="en-US" altLang="ko-KR" dirty="0">
                <a:effectLst/>
              </a:rPr>
              <a:t> to our problem.</a:t>
            </a:r>
          </a:p>
          <a:p>
            <a:r>
              <a:rPr lang="en-US" altLang="ko-KR" dirty="0">
                <a:effectLst/>
              </a:rPr>
              <a:t>As you can see in this table, I kept the </a:t>
            </a:r>
            <a:r>
              <a:rPr lang="en-US" altLang="ko-KR" b="1" dirty="0">
                <a:effectLst/>
              </a:rPr>
              <a:t>core ideas</a:t>
            </a:r>
            <a:r>
              <a:rPr lang="en-US" altLang="ko-KR" dirty="0">
                <a:effectLst/>
              </a:rPr>
              <a:t> from the original </a:t>
            </a:r>
            <a:r>
              <a:rPr lang="en-US" altLang="ko-KR" dirty="0" err="1">
                <a:effectLst/>
              </a:rPr>
              <a:t>NeRF</a:t>
            </a:r>
            <a:r>
              <a:rPr lang="en-US" altLang="ko-KR" dirty="0">
                <a:effectLst/>
              </a:rPr>
              <a:t> paper and only changed what needed to be changed for our physics-based setting.</a:t>
            </a:r>
          </a:p>
          <a:p>
            <a:endParaRPr lang="en-US" altLang="ko-KR" dirty="0">
              <a:effectLst/>
            </a:endParaRPr>
          </a:p>
          <a:p>
            <a:r>
              <a:rPr lang="en-US" altLang="ko-KR" dirty="0"/>
              <a:t>First We still use </a:t>
            </a:r>
            <a:r>
              <a:rPr lang="en-US" altLang="ko-KR" b="1" dirty="0"/>
              <a:t>3D position</a:t>
            </a:r>
            <a:r>
              <a:rPr lang="en-US" altLang="ko-KR" dirty="0"/>
              <a:t> as input, just like </a:t>
            </a:r>
            <a:r>
              <a:rPr lang="en-US" altLang="ko-KR" dirty="0" err="1"/>
              <a:t>NeRF</a:t>
            </a:r>
            <a:r>
              <a:rPr lang="en-US" altLang="ko-KR" dirty="0"/>
              <a:t> — but we don’t need view direction because gas properties are view-independent.</a:t>
            </a:r>
          </a:p>
          <a:p>
            <a:endParaRPr lang="en-US" altLang="ko-KR" dirty="0"/>
          </a:p>
          <a:p>
            <a:r>
              <a:rPr lang="en-US" altLang="ko-KR" dirty="0"/>
              <a:t>Next The </a:t>
            </a:r>
            <a:r>
              <a:rPr lang="en-US" altLang="ko-KR" b="1" dirty="0"/>
              <a:t>Fourier positional encoding</a:t>
            </a:r>
            <a:r>
              <a:rPr lang="en-US" altLang="ko-KR" dirty="0"/>
              <a:t> is identical (L=10). This is helpful because the cosmic gas structure has structures across many scales — from large voids to thin filaments.</a:t>
            </a:r>
          </a:p>
          <a:p>
            <a:endParaRPr lang="en-US" altLang="ko-KR" dirty="0"/>
          </a:p>
          <a:p>
            <a:r>
              <a:rPr lang="en-US" altLang="ko-KR" dirty="0"/>
              <a:t>The MLP backbone is </a:t>
            </a:r>
            <a:r>
              <a:rPr lang="en-US" altLang="ko-KR" b="1" dirty="0"/>
              <a:t>identical</a:t>
            </a:r>
            <a:r>
              <a:rPr lang="en-US" altLang="ko-KR" dirty="0"/>
              <a:t> to the original </a:t>
            </a:r>
            <a:r>
              <a:rPr lang="en-US" altLang="ko-KR" dirty="0" err="1"/>
              <a:t>NeRF</a:t>
            </a:r>
            <a:r>
              <a:rPr lang="en-US" altLang="ko-KR" dirty="0"/>
              <a:t> architecture: 8 layers, 256 units, with the same skip connection.</a:t>
            </a:r>
          </a:p>
          <a:p>
            <a:endParaRPr lang="en-US" altLang="ko-KR" strike="sngStrike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r>
              <a:rPr lang="en-US" altLang="ko-KR" strike="sngStrike" dirty="0">
                <a:effectLst/>
              </a:rPr>
              <a:t>In short: we kept </a:t>
            </a:r>
            <a:r>
              <a:rPr lang="en-US" altLang="ko-KR" strike="sngStrike" dirty="0" err="1">
                <a:effectLst/>
              </a:rPr>
              <a:t>NeRF’s</a:t>
            </a:r>
            <a:r>
              <a:rPr lang="en-US" altLang="ko-KR" strike="sngStrike" dirty="0">
                <a:effectLst/>
              </a:rPr>
              <a:t> powerful continuous representation and implicit neural field approach, but replaced the rendering engine with real astrophysical physics.</a:t>
            </a:r>
          </a:p>
          <a:p>
            <a:r>
              <a:rPr lang="en-US" altLang="ko-KR" strike="sngStrike" dirty="0">
                <a:effectLst/>
              </a:rPr>
              <a:t>This is what allows us to do sparse-view 3D reconstruction from 1D absorption spectra.”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>
              <a:effectLst/>
            </a:endParaRP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effectLst/>
              </a:rPr>
              <a:t>"Here’s how we </a:t>
            </a:r>
            <a:r>
              <a:rPr lang="en-US" altLang="ko-KR" b="1" dirty="0">
                <a:effectLst/>
              </a:rPr>
              <a:t>mapped</a:t>
            </a:r>
            <a:r>
              <a:rPr lang="en-US" altLang="ko-KR" dirty="0">
                <a:effectLst/>
              </a:rPr>
              <a:t> </a:t>
            </a:r>
            <a:r>
              <a:rPr lang="en-US" altLang="ko-KR" dirty="0" err="1">
                <a:effectLst/>
              </a:rPr>
              <a:t>NeRF</a:t>
            </a:r>
            <a:r>
              <a:rPr lang="en-US" altLang="ko-KR" dirty="0">
                <a:effectLst/>
              </a:rPr>
              <a:t> to this problem: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>
              <a:effectLst/>
            </a:endParaRPr>
          </a:p>
          <a:p>
            <a:r>
              <a:rPr lang="en-US" altLang="ko-KR" dirty="0">
                <a:effectLst/>
              </a:rPr>
              <a:t>Using the </a:t>
            </a:r>
            <a:r>
              <a:rPr lang="en-US" altLang="ko-KR" b="1" dirty="0">
                <a:effectLst/>
              </a:rPr>
              <a:t>exact same </a:t>
            </a:r>
            <a:r>
              <a:rPr lang="en-US" altLang="ko-KR" dirty="0">
                <a:effectLst/>
              </a:rPr>
              <a:t>MLP backbone as original </a:t>
            </a:r>
            <a:r>
              <a:rPr lang="en-US" altLang="ko-KR" dirty="0" err="1">
                <a:effectLst/>
              </a:rPr>
              <a:t>NeRF</a:t>
            </a:r>
            <a:r>
              <a:rPr lang="en-US" altLang="ko-KR" dirty="0">
                <a:effectLst/>
              </a:rPr>
              <a:t> (8 layers × 256 units, skip connection at layer 4), </a:t>
            </a:r>
          </a:p>
          <a:p>
            <a:endParaRPr lang="en-US" altLang="ko-KR" dirty="0">
              <a:effectLst/>
            </a:endParaRPr>
          </a:p>
          <a:p>
            <a:r>
              <a:rPr lang="en-US" altLang="ko-KR" dirty="0">
                <a:effectLst/>
              </a:rPr>
              <a:t>The main changes are </a:t>
            </a:r>
            <a:r>
              <a:rPr lang="en-US" altLang="ko-KR" b="1" dirty="0">
                <a:effectLst/>
              </a:rPr>
              <a:t>physics-aware output activations </a:t>
            </a:r>
            <a:r>
              <a:rPr lang="en-US" altLang="ko-KR" dirty="0">
                <a:effectLst/>
              </a:rPr>
              <a:t>and the </a:t>
            </a:r>
            <a:r>
              <a:rPr lang="en-US" altLang="ko-KR" b="1" dirty="0">
                <a:effectLst/>
              </a:rPr>
              <a:t>custom differentiable renderer.</a:t>
            </a:r>
            <a:r>
              <a:rPr lang="en-US" altLang="ko-KR" dirty="0">
                <a:effectLst/>
              </a:rPr>
              <a:t>“</a:t>
            </a:r>
          </a:p>
          <a:p>
            <a:endParaRPr lang="en-US" altLang="ko-KR" dirty="0">
              <a:effectLst/>
            </a:endParaRPr>
          </a:p>
          <a:p>
            <a:pPr lvl="1"/>
            <a:r>
              <a:rPr lang="en-US" altLang="ko-KR" strike="sngStrike" dirty="0"/>
              <a:t>Instead of predicting color and density, we predict </a:t>
            </a:r>
            <a:r>
              <a:rPr lang="en-US" altLang="ko-KR" b="1" strike="sngStrike" dirty="0"/>
              <a:t>physical fields</a:t>
            </a:r>
            <a:r>
              <a:rPr lang="en-US" altLang="ko-KR" strike="sngStrike" dirty="0"/>
              <a:t>: gas density, temperature, neutral hydrogen fraction, and peculiar velocity.</a:t>
            </a:r>
          </a:p>
          <a:p>
            <a:pPr lvl="1"/>
            <a:r>
              <a:rPr lang="en-US" altLang="ko-KR" strike="sngStrike" dirty="0"/>
              <a:t>Most importantly, we replaced </a:t>
            </a:r>
            <a:r>
              <a:rPr lang="en-US" altLang="ko-KR" strike="sngStrike" dirty="0" err="1"/>
              <a:t>NeRF’s</a:t>
            </a:r>
            <a:r>
              <a:rPr lang="en-US" altLang="ko-KR" strike="sngStrike" dirty="0"/>
              <a:t> volume rendering integral with a </a:t>
            </a:r>
            <a:r>
              <a:rPr lang="en-US" altLang="ko-KR" b="1" strike="sngStrike" dirty="0"/>
              <a:t>differentiable optical depth integral</a:t>
            </a:r>
            <a:r>
              <a:rPr lang="en-US" altLang="ko-KR" strike="sngStrike" dirty="0"/>
              <a:t> that uses the Voigt absorption kernel.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altLang="ko-KR" dirty="0">
                <a:effectLst/>
              </a:rPr>
              <a:t>"The key technical piece is the </a:t>
            </a:r>
            <a:r>
              <a:rPr lang="en-US" altLang="ko-KR" b="1" dirty="0">
                <a:effectLst/>
              </a:rPr>
              <a:t>differentiable physics rendering</a:t>
            </a:r>
            <a:r>
              <a:rPr lang="en-US" altLang="ko-KR" dirty="0">
                <a:effectLst/>
              </a:rPr>
              <a:t>:</a:t>
            </a:r>
          </a:p>
          <a:p>
            <a:endParaRPr lang="en-US" altLang="ko-KR" dirty="0">
              <a:effectLst/>
            </a:endParaRPr>
          </a:p>
          <a:p>
            <a:r>
              <a:rPr lang="en-US" altLang="ko-KR" dirty="0">
                <a:effectLst/>
              </a:rPr>
              <a:t>So the </a:t>
            </a:r>
            <a:r>
              <a:rPr lang="en-US" altLang="ko-KR" b="1" dirty="0">
                <a:effectLst/>
              </a:rPr>
              <a:t>intuition</a:t>
            </a:r>
            <a:r>
              <a:rPr lang="en-US" altLang="ko-KR" dirty="0">
                <a:effectLst/>
              </a:rPr>
              <a:t> behind the </a:t>
            </a:r>
            <a:r>
              <a:rPr lang="en-US" altLang="ko-KR" b="1" dirty="0">
                <a:effectLst/>
              </a:rPr>
              <a:t>rendering equation </a:t>
            </a:r>
            <a:r>
              <a:rPr lang="en-US" altLang="ko-KR" dirty="0">
                <a:effectLst/>
              </a:rPr>
              <a:t>is:</a:t>
            </a:r>
          </a:p>
          <a:p>
            <a:r>
              <a:rPr lang="en-US" altLang="ko-KR" dirty="0">
                <a:effectLst/>
              </a:rPr>
              <a:t>Each </a:t>
            </a:r>
            <a:r>
              <a:rPr lang="en-US" altLang="ko-KR" b="1" dirty="0">
                <a:effectLst/>
              </a:rPr>
              <a:t>gas cell </a:t>
            </a:r>
            <a:r>
              <a:rPr lang="en-US" altLang="ko-KR" dirty="0">
                <a:effectLst/>
              </a:rPr>
              <a:t>contributes a </a:t>
            </a:r>
            <a:r>
              <a:rPr lang="en-US" altLang="ko-KR" b="1" dirty="0">
                <a:effectLst/>
              </a:rPr>
              <a:t>small absorption bump </a:t>
            </a:r>
            <a:r>
              <a:rPr lang="en-US" altLang="ko-KR" dirty="0">
                <a:effectLst/>
              </a:rPr>
              <a:t>whose </a:t>
            </a:r>
            <a:r>
              <a:rPr lang="en-US" altLang="ko-KR" b="1" dirty="0">
                <a:effectLst/>
              </a:rPr>
              <a:t>shape</a:t>
            </a:r>
            <a:r>
              <a:rPr lang="en-US" altLang="ko-KR" dirty="0">
                <a:effectLst/>
              </a:rPr>
              <a:t> is given by the </a:t>
            </a:r>
            <a:r>
              <a:rPr lang="en-US" altLang="ko-KR" b="1" dirty="0">
                <a:effectLst/>
              </a:rPr>
              <a:t>Voigt kernel </a:t>
            </a:r>
            <a:r>
              <a:rPr lang="en-US" altLang="ko-KR" b="0" dirty="0">
                <a:effectLst/>
              </a:rPr>
              <a:t>we saw 2 slides ago</a:t>
            </a:r>
          </a:p>
          <a:p>
            <a:r>
              <a:rPr lang="en-US" altLang="ko-KR" dirty="0">
                <a:effectLst/>
              </a:rPr>
              <a:t>(temperature-dependent width + peculiar velocity shift). </a:t>
            </a:r>
          </a:p>
          <a:p>
            <a:endParaRPr lang="en-US" altLang="ko-KR" dirty="0">
              <a:effectLst/>
            </a:endParaRPr>
          </a:p>
          <a:p>
            <a:r>
              <a:rPr lang="en-US" altLang="ko-KR" dirty="0">
                <a:effectLst/>
              </a:rPr>
              <a:t>We </a:t>
            </a:r>
            <a:r>
              <a:rPr lang="en-US" altLang="ko-KR" b="1" dirty="0">
                <a:effectLst/>
              </a:rPr>
              <a:t>sum</a:t>
            </a:r>
            <a:r>
              <a:rPr lang="en-US" altLang="ko-KR" dirty="0">
                <a:effectLst/>
              </a:rPr>
              <a:t> all these bumps</a:t>
            </a:r>
            <a:r>
              <a:rPr lang="en-US" altLang="ko-KR" b="1" dirty="0">
                <a:effectLst/>
              </a:rPr>
              <a:t> along the ray</a:t>
            </a:r>
            <a:r>
              <a:rPr lang="en-US" altLang="ko-KR" dirty="0">
                <a:effectLst/>
              </a:rPr>
              <a:t> to get the </a:t>
            </a:r>
            <a:r>
              <a:rPr lang="en-US" altLang="ko-KR" b="1" dirty="0">
                <a:effectLst/>
              </a:rPr>
              <a:t>predicted</a:t>
            </a:r>
            <a:r>
              <a:rPr lang="en-US" altLang="ko-KR" dirty="0">
                <a:effectLst/>
              </a:rPr>
              <a:t> 1D spectrum.</a:t>
            </a:r>
          </a:p>
          <a:p>
            <a:endParaRPr lang="en-US" altLang="ko-KR" dirty="0">
              <a:effectLst/>
            </a:endParaRPr>
          </a:p>
          <a:p>
            <a:r>
              <a:rPr lang="en-US" altLang="ko-KR" dirty="0">
                <a:effectLst/>
              </a:rPr>
              <a:t>For the loss, </a:t>
            </a:r>
          </a:p>
          <a:p>
            <a:r>
              <a:rPr lang="en-US" altLang="ko-KR" dirty="0"/>
              <a:t>1. Mask out completely saturated cores (they carry no useful information)</a:t>
            </a:r>
          </a:p>
          <a:p>
            <a:r>
              <a:rPr lang="en-US" altLang="ko-KR" dirty="0"/>
              <a:t>2. Cap remaining values at τ=10</a:t>
            </a:r>
          </a:p>
          <a:p>
            <a:r>
              <a:rPr lang="en-US" altLang="ko-KR" dirty="0"/>
              <a:t>3. Supervise in </a:t>
            </a:r>
            <a:r>
              <a:rPr lang="en-US" altLang="ko-KR" b="1" dirty="0"/>
              <a:t>log(1 + τ)</a:t>
            </a:r>
            <a:r>
              <a:rPr lang="en-US" altLang="ko-KR" dirty="0"/>
              <a:t> space (matches the natural log-normal distribution of IGM opacity)</a:t>
            </a:r>
          </a:p>
          <a:p>
            <a:endParaRPr lang="en-US" altLang="ko-KR" dirty="0"/>
          </a:p>
          <a:p>
            <a:endParaRPr lang="en-US" altLang="ko-KR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altLang="ko-KR" dirty="0">
                <a:effectLst/>
              </a:rPr>
              <a:t>“On a sample run with only </a:t>
            </a:r>
            <a:r>
              <a:rPr lang="en-US" altLang="ko-KR" b="1" dirty="0">
                <a:effectLst/>
              </a:rPr>
              <a:t>64 rays</a:t>
            </a:r>
            <a:r>
              <a:rPr lang="en-US" altLang="ko-KR" dirty="0">
                <a:effectLst/>
              </a:rPr>
              <a:t> through the entire simulation 60 Mpc box and the model recovers nearly identical mean transmitted flux.</a:t>
            </a:r>
          </a:p>
          <a:p>
            <a:r>
              <a:rPr lang="en-US" altLang="ko-KR" strike="sngStrike" dirty="0">
                <a:effectLst/>
              </a:rPr>
              <a:t>across </a:t>
            </a:r>
            <a:r>
              <a:rPr lang="en-US" altLang="ko-KR" b="1" strike="sngStrike" dirty="0">
                <a:effectLst/>
              </a:rPr>
              <a:t>four very different</a:t>
            </a:r>
            <a:r>
              <a:rPr lang="en-US" altLang="ko-KR" strike="sngStrike" dirty="0">
                <a:effectLst/>
              </a:rPr>
              <a:t> baryonic physics implementations (0.9247 to 0.9308).</a:t>
            </a:r>
          </a:p>
          <a:p>
            <a:endParaRPr lang="en-US" altLang="ko-KR" dirty="0">
              <a:effectLst/>
            </a:endParaRPr>
          </a:p>
          <a:p>
            <a:r>
              <a:rPr lang="en-US" altLang="ko-KR" dirty="0">
                <a:effectLst/>
              </a:rPr>
              <a:t>That’s a spread of </a:t>
            </a:r>
            <a:r>
              <a:rPr lang="en-US" altLang="ko-KR" b="1" dirty="0">
                <a:effectLst/>
              </a:rPr>
              <a:t>0.66%</a:t>
            </a:r>
            <a:r>
              <a:rPr lang="en-US" altLang="ko-KR" dirty="0">
                <a:effectLst/>
              </a:rPr>
              <a:t>, which is within observational </a:t>
            </a:r>
            <a:r>
              <a:rPr lang="en-US" altLang="ko-KR" strike="sngStrike" dirty="0">
                <a:effectLst/>
              </a:rPr>
              <a:t>calibration</a:t>
            </a:r>
            <a:r>
              <a:rPr lang="en-US" altLang="ko-KR" dirty="0">
                <a:effectLst/>
              </a:rPr>
              <a:t> tolerance.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altLang="ko-KR" strike="sngStrike" dirty="0">
                <a:effectLst/>
              </a:rPr>
              <a:t>“We still need to finish the training on the full data (Tiers 2–4) and run the final cosmological metrics (flux power spectrum, density correlation, flux PDF).</a:t>
            </a:r>
          </a:p>
          <a:p>
            <a:endParaRPr lang="en-US" altLang="ko-KR" strike="sngStrike" dirty="0">
              <a:effectLst/>
            </a:endParaRPr>
          </a:p>
          <a:p>
            <a:r>
              <a:rPr lang="en-US" altLang="ko-KR" b="1" strike="sngStrike" dirty="0">
                <a:effectLst/>
              </a:rPr>
              <a:t>Final message</a:t>
            </a:r>
            <a:r>
              <a:rPr lang="en-US" altLang="ko-KR" strike="sngStrike" dirty="0">
                <a:effectLst/>
              </a:rPr>
              <a:t>: The </a:t>
            </a:r>
            <a:r>
              <a:rPr lang="en-US" altLang="ko-KR" strike="sngStrike" dirty="0" err="1">
                <a:effectLst/>
              </a:rPr>
              <a:t>NeRF</a:t>
            </a:r>
            <a:r>
              <a:rPr lang="en-US" altLang="ko-KR" strike="sngStrike" dirty="0">
                <a:effectLst/>
              </a:rPr>
              <a:t> architecture was the easy part. </a:t>
            </a:r>
          </a:p>
          <a:p>
            <a:r>
              <a:rPr lang="en-US" altLang="ko-KR" strike="sngStrike" dirty="0">
                <a:effectLst/>
              </a:rPr>
              <a:t>The real contribution is showing how to build a </a:t>
            </a:r>
            <a:r>
              <a:rPr lang="en-US" altLang="ko-KR" b="1" strike="sngStrike" dirty="0">
                <a:effectLst/>
              </a:rPr>
              <a:t>differentiable physics-based renderer</a:t>
            </a:r>
            <a:r>
              <a:rPr lang="en-US" altLang="ko-KR" strike="sngStrike" dirty="0">
                <a:effectLst/>
              </a:rPr>
              <a:t> and design a loss that makes per-sample supervision work reliably on heavy-tailed scientific data.</a:t>
            </a:r>
          </a:p>
          <a:p>
            <a:endParaRPr lang="en-US" altLang="ko-KR" strike="sngStrike" dirty="0">
              <a:effectLst/>
            </a:endParaRPr>
          </a:p>
          <a:p>
            <a:r>
              <a:rPr lang="en-US" altLang="ko-KR" strike="sngStrike" dirty="0">
                <a:effectLst/>
              </a:rPr>
              <a:t>This suggests implicit neural fields can be a powerful general tool for inverse problems well beyond traditional rendering."</a:t>
            </a:r>
          </a:p>
          <a:p>
            <a:r>
              <a:rPr lang="en-US" altLang="ko-KR" b="1" strike="sngStrike" dirty="0">
                <a:effectLst/>
              </a:rPr>
              <a:t>Thank you.</a:t>
            </a:r>
            <a:endParaRPr lang="en-US" altLang="ko-KR" strike="sngStrike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103120"/>
            <a:ext cx="1033272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600" b="1" dirty="0">
                <a:solidFill>
                  <a:srgbClr val="102A43"/>
                </a:solidFill>
              </a:rPr>
              <a:t>Cosmo Gas Vision</a:t>
            </a:r>
            <a:endParaRPr sz="6600" b="1" dirty="0">
              <a:solidFill>
                <a:srgbClr val="102A43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06117" y="3108960"/>
            <a:ext cx="10749289" cy="10772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3600" dirty="0">
                <a:solidFill>
                  <a:srgbClr val="555555"/>
                </a:solidFill>
              </a:rPr>
              <a:t>IGM </a:t>
            </a:r>
            <a:r>
              <a:rPr lang="en-US" sz="3600" dirty="0" err="1">
                <a:solidFill>
                  <a:srgbClr val="555555"/>
                </a:solidFill>
              </a:rPr>
              <a:t>NeRF</a:t>
            </a:r>
            <a:r>
              <a:rPr lang="en-US" sz="2800" dirty="0">
                <a:solidFill>
                  <a:srgbClr val="555555"/>
                </a:solidFill>
              </a:rPr>
              <a:t>: </a:t>
            </a:r>
          </a:p>
          <a:p>
            <a:pPr algn="ctr"/>
            <a:r>
              <a:rPr sz="2800" dirty="0">
                <a:solidFill>
                  <a:srgbClr val="555555"/>
                </a:solidFill>
              </a:rPr>
              <a:t>3D reconstruction of intergalactic gas from 1D quasar absorption spectra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484132"/>
            <a:ext cx="1020277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000" i="1" dirty="0">
                <a:solidFill>
                  <a:srgbClr val="102A43"/>
                </a:solidFill>
              </a:rPr>
              <a:t>Reconstructing cosmological gas density from sparse 1D absorption signals from ray marching.</a:t>
            </a:r>
          </a:p>
          <a:p>
            <a:pPr algn="ctr"/>
            <a:r>
              <a:rPr lang="en-US" altLang="ko-KR" sz="2000" i="1" dirty="0">
                <a:solidFill>
                  <a:srgbClr val="102A43"/>
                </a:solidFill>
              </a:rPr>
              <a:t>Physics-informed </a:t>
            </a:r>
            <a:r>
              <a:rPr sz="2000" i="1" dirty="0" err="1">
                <a:solidFill>
                  <a:srgbClr val="102A43"/>
                </a:solidFill>
              </a:rPr>
              <a:t>NeRF's</a:t>
            </a:r>
            <a:r>
              <a:rPr sz="2000" i="1" dirty="0">
                <a:solidFill>
                  <a:srgbClr val="102A43"/>
                </a:solidFill>
              </a:rPr>
              <a:t> continuous-field representation and its rendering</a:t>
            </a:r>
            <a:r>
              <a:rPr lang="en-US" sz="2000" i="1" dirty="0">
                <a:solidFill>
                  <a:srgbClr val="102A43"/>
                </a:solidFill>
              </a:rPr>
              <a:t> </a:t>
            </a:r>
            <a:r>
              <a:rPr sz="2000" i="1" dirty="0">
                <a:solidFill>
                  <a:srgbClr val="102A43"/>
                </a:solidFill>
              </a:rPr>
              <a:t>operator.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A8AD78-B4A6-1C84-E902-C658D386C223}"/>
              </a:ext>
            </a:extLst>
          </p:cNvPr>
          <p:cNvSpPr txBox="1"/>
          <p:nvPr/>
        </p:nvSpPr>
        <p:spPr>
          <a:xfrm>
            <a:off x="9956800" y="5896005"/>
            <a:ext cx="24206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/>
              <a:t>Sujin Hwang</a:t>
            </a:r>
            <a:endParaRPr lang="ko-KR" alt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02A43"/>
                </a:solidFill>
              </a:rPr>
              <a:t>What we are looking at: cosmological gas + quasar spectra</a:t>
            </a:r>
          </a:p>
        </p:txBody>
      </p:sp>
      <p:pic>
        <p:nvPicPr>
          <p:cNvPr id="3" name="Picture 2" descr="cosmological_set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440" y="704631"/>
            <a:ext cx="9760145" cy="592476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644A9D6-5798-37EA-EFEB-95B5DDC637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7928" y="4293876"/>
            <a:ext cx="9513404" cy="185949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02A43"/>
                </a:solidFill>
              </a:rPr>
              <a:t>Why this looks like a NeRF problem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B7CF2E8-5725-C809-C712-7316C3961C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1033" y="5288797"/>
            <a:ext cx="7976937" cy="997117"/>
          </a:xfrm>
          <a:prstGeom prst="rect">
            <a:avLst/>
          </a:prstGeom>
        </p:spPr>
      </p:pic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B49C12B-F611-287D-CB1A-604C89CDBB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0099748"/>
              </p:ext>
            </p:extLst>
          </p:nvPr>
        </p:nvGraphicFramePr>
        <p:xfrm>
          <a:off x="583531" y="965953"/>
          <a:ext cx="11247120" cy="3505200"/>
        </p:xfrm>
        <a:graphic>
          <a:graphicData uri="http://schemas.openxmlformats.org/drawingml/2006/table">
            <a:tbl>
              <a:tblPr/>
              <a:tblGrid>
                <a:gridCol w="3749040">
                  <a:extLst>
                    <a:ext uri="{9D8B030D-6E8A-4147-A177-3AD203B41FA5}">
                      <a16:colId xmlns:a16="http://schemas.microsoft.com/office/drawing/2014/main" val="1044629443"/>
                    </a:ext>
                  </a:extLst>
                </a:gridCol>
                <a:gridCol w="4035911">
                  <a:extLst>
                    <a:ext uri="{9D8B030D-6E8A-4147-A177-3AD203B41FA5}">
                      <a16:colId xmlns:a16="http://schemas.microsoft.com/office/drawing/2014/main" val="111932540"/>
                    </a:ext>
                  </a:extLst>
                </a:gridCol>
                <a:gridCol w="3462169">
                  <a:extLst>
                    <a:ext uri="{9D8B030D-6E8A-4147-A177-3AD203B41FA5}">
                      <a16:colId xmlns:a16="http://schemas.microsoft.com/office/drawing/2014/main" val="57285722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/>
                        <a:t>NeRF</a:t>
                      </a:r>
                      <a:endParaRPr lang="en-US" sz="1600" dirty="0"/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IGM-</a:t>
                      </a:r>
                      <a:r>
                        <a:rPr lang="en-US" sz="1600" dirty="0" err="1"/>
                        <a:t>NeRF</a:t>
                      </a:r>
                      <a:endParaRPr lang="en-US" sz="1600" dirty="0"/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Notes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66464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1" dirty="0">
                          <a:effectLst/>
                        </a:rPr>
                        <a:t>Synthetic / real-world scene</a:t>
                      </a:r>
                      <a:r>
                        <a:rPr lang="en-US" altLang="ko-KR" sz="1600" dirty="0">
                          <a:effectLst/>
                        </a:rPr>
                        <a:t>, ~few m³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altLang="ko-KR" sz="1600" dirty="0">
                          <a:effectLst/>
                        </a:rPr>
                        <a:t>60 Mpc/h cosmological box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600" dirty="0"/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9847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effectLst/>
                        </a:rPr>
                        <a:t>Camera ray through pixel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effectLst/>
                        </a:rPr>
                        <a:t>Spectrum through IGM box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600" dirty="0"/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60422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effectLst/>
                        </a:rPr>
                        <a:t>RGB at pixel (</a:t>
                      </a:r>
                      <a:r>
                        <a:rPr lang="en-US" altLang="ko-KR" sz="1600" dirty="0" err="1">
                          <a:effectLst/>
                        </a:rPr>
                        <a:t>u,v</a:t>
                      </a:r>
                      <a:r>
                        <a:rPr lang="en-US" altLang="ko-KR" sz="1600" dirty="0">
                          <a:effectLst/>
                        </a:rPr>
                        <a:t>)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effectLst/>
                        </a:rPr>
                        <a:t>Optical depth at observed-velocity bin (</a:t>
                      </a:r>
                      <a:r>
                        <a:rPr lang="en-US" altLang="ko-KR" sz="1600" dirty="0" err="1">
                          <a:effectLst/>
                        </a:rPr>
                        <a:t>v_obs</a:t>
                      </a:r>
                      <a:r>
                        <a:rPr lang="en-US" altLang="ko-KR" sz="1600" dirty="0">
                          <a:effectLst/>
                        </a:rPr>
                        <a:t>)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600" dirty="0"/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111902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1600" b="1" dirty="0">
                          <a:effectLst/>
                        </a:rPr>
                        <a:t>5D Input</a:t>
                      </a:r>
                      <a:r>
                        <a:rPr lang="en-US" altLang="ko-KR" sz="1600" dirty="0">
                          <a:effectLst/>
                        </a:rPr>
                        <a:t>, position (</a:t>
                      </a:r>
                      <a:r>
                        <a:rPr lang="en-US" altLang="ko-KR" sz="1600" dirty="0" err="1">
                          <a:effectLst/>
                        </a:rPr>
                        <a:t>x,y,z</a:t>
                      </a:r>
                      <a:r>
                        <a:rPr lang="en-US" altLang="ko-KR" sz="1600" dirty="0">
                          <a:effectLst/>
                        </a:rPr>
                        <a:t>) + view direction (</a:t>
                      </a:r>
                      <a:r>
                        <a:rPr lang="el-GR" altLang="ko-KR" sz="1600" dirty="0">
                          <a:effectLst/>
                        </a:rPr>
                        <a:t>θ,φ)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Comoving 3D coordinate input in the box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600" dirty="0">
                          <a:effectLst/>
                        </a:rPr>
                        <a:t>physics is view-independent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29198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1" dirty="0">
                          <a:effectLst/>
                        </a:rPr>
                        <a:t>Fourier Positional Encoding</a:t>
                      </a:r>
                      <a:r>
                        <a:rPr lang="en-US" altLang="ko-KR" sz="1600" dirty="0">
                          <a:effectLst/>
                        </a:rPr>
                        <a:t> </a:t>
                      </a:r>
                    </a:p>
                    <a:p>
                      <a:pPr>
                        <a:buNone/>
                      </a:pPr>
                      <a:r>
                        <a:rPr lang="en-US" altLang="ko-KR" sz="1600" dirty="0" err="1">
                          <a:effectLst/>
                        </a:rPr>
                        <a:t>L_pos</a:t>
                      </a:r>
                      <a:r>
                        <a:rPr lang="en-US" altLang="ko-KR" sz="1600" dirty="0">
                          <a:effectLst/>
                        </a:rPr>
                        <a:t>=10, </a:t>
                      </a:r>
                      <a:r>
                        <a:rPr lang="en-US" altLang="ko-KR" sz="1600" dirty="0" err="1">
                          <a:effectLst/>
                        </a:rPr>
                        <a:t>L_dir</a:t>
                      </a:r>
                      <a:r>
                        <a:rPr lang="en-US" altLang="ko-KR" sz="1600" dirty="0">
                          <a:effectLst/>
                        </a:rPr>
                        <a:t>=4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600" dirty="0">
                          <a:effectLst/>
                        </a:rPr>
                        <a:t>Fourier Positional Encoding</a:t>
                      </a:r>
                    </a:p>
                    <a:p>
                      <a:r>
                        <a:rPr lang="en-US" altLang="ko-KR" sz="1600" dirty="0">
                          <a:effectLst/>
                        </a:rPr>
                        <a:t>L=10 (no direction encoding)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Captures multi-scale filaments + voids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0472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Volume density </a:t>
                      </a:r>
                      <a:r>
                        <a:rPr lang="el-GR" sz="1600" b="1"/>
                        <a:t>σ</a:t>
                      </a:r>
                      <a:endParaRPr lang="el-GR" sz="1600"/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v-SE" sz="1600" dirty="0"/>
                        <a:t>Neutral hydrogen density (ρ × X_HI)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Opacity along the ray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82494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View-dependent color c</a:t>
                      </a:r>
                      <a:endParaRPr lang="en-US" sz="1600"/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Voigt absorption kernel H(a,x)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Known physics function, not learned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8028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Volume rendering integral</a:t>
                      </a:r>
                      <a:endParaRPr lang="en-US" sz="1600"/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Differentiable optical depth integral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Line integral along the ray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939127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112471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 dirty="0" err="1">
                <a:solidFill>
                  <a:srgbClr val="102A43"/>
                </a:solidFill>
              </a:rPr>
              <a:t>NeRF</a:t>
            </a:r>
            <a:r>
              <a:rPr lang="en-US" sz="2800" b="1" dirty="0">
                <a:solidFill>
                  <a:srgbClr val="102A43"/>
                </a:solidFill>
              </a:rPr>
              <a:t> vs IGM </a:t>
            </a:r>
            <a:r>
              <a:rPr lang="en-US" sz="2800" b="1" dirty="0" err="1">
                <a:solidFill>
                  <a:srgbClr val="102A43"/>
                </a:solidFill>
              </a:rPr>
              <a:t>NeRF</a:t>
            </a:r>
            <a:endParaRPr sz="2800" b="1" dirty="0">
              <a:solidFill>
                <a:srgbClr val="102A43"/>
              </a:solidFill>
            </a:endParaRPr>
          </a:p>
        </p:txBody>
      </p:sp>
      <p:pic>
        <p:nvPicPr>
          <p:cNvPr id="3" name="Picture 2" descr="nerf_vs_igmnerf_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56739" y="657252"/>
            <a:ext cx="8019657" cy="5955213"/>
          </a:xfrm>
          <a:prstGeom prst="rect">
            <a:avLst/>
          </a:prstGeom>
        </p:spPr>
      </p:pic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51E4390-F65F-476D-6F95-96BE7BC9B8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6355500"/>
              </p:ext>
            </p:extLst>
          </p:nvPr>
        </p:nvGraphicFramePr>
        <p:xfrm>
          <a:off x="7462918" y="4001836"/>
          <a:ext cx="4515447" cy="2651760"/>
        </p:xfrm>
        <a:graphic>
          <a:graphicData uri="http://schemas.openxmlformats.org/drawingml/2006/table">
            <a:tbl>
              <a:tblPr/>
              <a:tblGrid>
                <a:gridCol w="1122578">
                  <a:extLst>
                    <a:ext uri="{9D8B030D-6E8A-4147-A177-3AD203B41FA5}">
                      <a16:colId xmlns:a16="http://schemas.microsoft.com/office/drawing/2014/main" val="3531813338"/>
                    </a:ext>
                  </a:extLst>
                </a:gridCol>
                <a:gridCol w="1445111">
                  <a:extLst>
                    <a:ext uri="{9D8B030D-6E8A-4147-A177-3AD203B41FA5}">
                      <a16:colId xmlns:a16="http://schemas.microsoft.com/office/drawing/2014/main" val="157639118"/>
                    </a:ext>
                  </a:extLst>
                </a:gridCol>
                <a:gridCol w="1947758">
                  <a:extLst>
                    <a:ext uri="{9D8B030D-6E8A-4147-A177-3AD203B41FA5}">
                      <a16:colId xmlns:a16="http://schemas.microsoft.com/office/drawing/2014/main" val="106104209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Field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Activation</a:t>
                      </a:r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Notes</a:t>
                      </a:r>
                    </a:p>
                  </a:txBody>
                  <a:tcPr marL="45720" marR="4572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407283"/>
                  </a:ext>
                </a:extLst>
              </a:tr>
              <a:tr h="1224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/>
                        <a:t>Density</a:t>
                      </a:r>
                      <a:r>
                        <a:rPr lang="en-US" sz="1200" dirty="0"/>
                        <a:t> (</a:t>
                      </a:r>
                      <a:r>
                        <a:rPr lang="el-GR" sz="1200" dirty="0"/>
                        <a:t>ρ / ρ̄)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 err="1"/>
                        <a:t>Softplus</a:t>
                      </a:r>
                      <a:endParaRPr lang="en-US" sz="1200" dirty="0"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Ensures positivity. Filament peaks ~100× mean.</a:t>
                      </a:r>
                    </a:p>
                  </a:txBody>
                  <a:tcPr marL="45720" marR="4572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9948351"/>
                  </a:ext>
                </a:extLst>
              </a:tr>
              <a:tr h="1713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Temperature</a:t>
                      </a:r>
                      <a:r>
                        <a:rPr lang="en-US" sz="1200"/>
                        <a:t> (T)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 err="1"/>
                        <a:t>Softplus</a:t>
                      </a:r>
                      <a:r>
                        <a:rPr lang="en-US" sz="1200" dirty="0"/>
                        <a:t>(x) × 10⁴ + 10³ K</a:t>
                      </a:r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Floor at 10³ K (cold gas). Anchored at 10⁴ K. WHIM tail reachable.</a:t>
                      </a:r>
                    </a:p>
                  </a:txBody>
                  <a:tcPr marL="45720" marR="4572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7059703"/>
                  </a:ext>
                </a:extLst>
              </a:tr>
              <a:tr h="1224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HI Fraction</a:t>
                      </a:r>
                      <a:r>
                        <a:rPr lang="en-US" sz="1200"/>
                        <a:t> (X_HI)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Sigmoid</a:t>
                      </a:r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Constrains to [0, 1].</a:t>
                      </a:r>
                    </a:p>
                  </a:txBody>
                  <a:tcPr marL="45720" marR="4572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7708263"/>
                  </a:ext>
                </a:extLst>
              </a:tr>
              <a:tr h="2203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Peculiar Velocity</a:t>
                      </a:r>
                      <a:r>
                        <a:rPr lang="en-US" sz="1200"/>
                        <a:t> (v_pec)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/>
                        <a:t>Tanh(x) × 500 km/s</a:t>
                      </a:r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Suitable for diffuse IGM at z=0.3 (±200–300 km/s typical). Soft clipping for extremes.</a:t>
                      </a:r>
                    </a:p>
                  </a:txBody>
                  <a:tcPr marL="45720" marR="4572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0697467"/>
                  </a:ext>
                </a:extLst>
              </a:tr>
            </a:tbl>
          </a:graphicData>
        </a:graphic>
      </p:graphicFrame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CA023C4-5835-872F-8C7E-1D98251D1A44}"/>
              </a:ext>
            </a:extLst>
          </p:cNvPr>
          <p:cNvCxnSpPr>
            <a:cxnSpLocks/>
          </p:cNvCxnSpPr>
          <p:nvPr/>
        </p:nvCxnSpPr>
        <p:spPr>
          <a:xfrm>
            <a:off x="6597650" y="5803900"/>
            <a:ext cx="800100" cy="0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102A43"/>
                </a:solidFill>
              </a:rPr>
              <a:t>Differentiable physics rendering + loss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5943600" cy="984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dirty="0">
                <a:solidFill>
                  <a:srgbClr val="C0392B"/>
                </a:solidFill>
              </a:rPr>
              <a:t>Optical-depth rendering</a:t>
            </a:r>
          </a:p>
          <a:p>
            <a:endParaRPr lang="en-US" sz="2000" b="1" dirty="0">
              <a:solidFill>
                <a:srgbClr val="102A43"/>
              </a:solidFill>
            </a:endParaRPr>
          </a:p>
          <a:p>
            <a:endParaRPr sz="2000" b="1" dirty="0">
              <a:solidFill>
                <a:srgbClr val="102A43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92240" y="1005840"/>
            <a:ext cx="5303520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dirty="0">
                <a:solidFill>
                  <a:srgbClr val="C0392B"/>
                </a:solidFill>
              </a:rPr>
              <a:t>Loss design </a:t>
            </a:r>
            <a:endParaRPr lang="en-US" sz="1800" b="1" dirty="0">
              <a:solidFill>
                <a:srgbClr val="C0392B"/>
              </a:solidFill>
            </a:endParaRPr>
          </a:p>
          <a:p>
            <a:endParaRPr lang="en-US" sz="1300" b="1" dirty="0">
              <a:solidFill>
                <a:srgbClr val="102A43"/>
              </a:solidFill>
            </a:endParaRPr>
          </a:p>
          <a:p>
            <a:endParaRPr sz="1300" b="1" dirty="0">
              <a:solidFill>
                <a:srgbClr val="102A43"/>
              </a:solidFill>
            </a:endParaRPr>
          </a:p>
          <a:p>
            <a:r>
              <a:rPr sz="1100" dirty="0">
                <a:solidFill>
                  <a:srgbClr val="102A43"/>
                </a:solidFill>
              </a:rPr>
              <a:t>(1) </a:t>
            </a:r>
            <a:r>
              <a:rPr lang="en-US" altLang="ko-KR" sz="1100" dirty="0"/>
              <a:t>Mask (Saturated-absorber mask) </a:t>
            </a:r>
            <a:br>
              <a:rPr lang="en-US" altLang="ko-KR" sz="1100" dirty="0"/>
            </a:br>
            <a:r>
              <a:rPr lang="en-US" altLang="ko-KR" sz="1100" dirty="0"/>
              <a:t>Completely ignore bins where τ is extremely high (saturated cores). These bins contain almost no useful spatial information anyway (the light is fully absorbed).</a:t>
            </a:r>
          </a:p>
          <a:p>
            <a:endParaRPr lang="en-US" altLang="ko-KR" sz="1100" dirty="0"/>
          </a:p>
          <a:p>
            <a:r>
              <a:rPr sz="1100" dirty="0">
                <a:solidFill>
                  <a:srgbClr val="102A43"/>
                </a:solidFill>
              </a:rPr>
              <a:t>(2) </a:t>
            </a:r>
            <a:r>
              <a:rPr lang="en-US" altLang="ko-KR" sz="1100" dirty="0"/>
              <a:t>Cap (at </a:t>
            </a:r>
            <a:r>
              <a:rPr lang="en-US" altLang="ko-KR" sz="1100" dirty="0" err="1"/>
              <a:t>τ_max</a:t>
            </a:r>
            <a:r>
              <a:rPr lang="en-US" altLang="ko-KR" sz="1100" dirty="0"/>
              <a:t>=10) </a:t>
            </a:r>
          </a:p>
          <a:p>
            <a:r>
              <a:rPr lang="en-US" altLang="ko-KR" sz="1100" dirty="0"/>
              <a:t>For all remaining bins, clip both prediction and ground truth at τ = 10. This prevents strong-but-not-fully-saturated lines from producing huge gradients.</a:t>
            </a:r>
          </a:p>
          <a:p>
            <a:endParaRPr sz="1100" dirty="0">
              <a:solidFill>
                <a:srgbClr val="555555"/>
              </a:solidFill>
            </a:endParaRPr>
          </a:p>
          <a:p>
            <a:r>
              <a:rPr sz="1100" dirty="0">
                <a:solidFill>
                  <a:srgbClr val="102A43"/>
                </a:solidFill>
              </a:rPr>
              <a:t>(3) </a:t>
            </a:r>
            <a:r>
              <a:rPr lang="en-US" altLang="ko-KR" sz="1100" dirty="0"/>
              <a:t>log1p supervision </a:t>
            </a:r>
          </a:p>
          <a:p>
            <a:r>
              <a:rPr lang="en-US" altLang="ko-KR" sz="1100" dirty="0"/>
              <a:t>Instead of MSE(</a:t>
            </a:r>
            <a:r>
              <a:rPr lang="en-US" altLang="ko-KR" sz="1100" dirty="0" err="1"/>
              <a:t>τ_pred</a:t>
            </a:r>
            <a:r>
              <a:rPr lang="en-US" altLang="ko-KR" sz="1100" dirty="0"/>
              <a:t>, </a:t>
            </a:r>
            <a:r>
              <a:rPr lang="en-US" altLang="ko-KR" sz="1100" dirty="0" err="1"/>
              <a:t>τ_gt</a:t>
            </a:r>
            <a:r>
              <a:rPr lang="en-US" altLang="ko-KR" sz="1100" dirty="0"/>
              <a:t>), compute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74790" y="5136536"/>
            <a:ext cx="53035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Why log(1+</a:t>
            </a:r>
            <a:r>
              <a:rPr lang="el-GR" altLang="ko-KR" sz="1200" dirty="0"/>
              <a:t>τ)? </a:t>
            </a:r>
            <a:r>
              <a:rPr lang="en-US" altLang="ko-KR" sz="1200" dirty="0"/>
              <a:t>The IGM opacity distribution is approximately log-normal (Fluctuating Gunn-Peterson Approximation; Bi &amp; Davidsen 1997). Log-space supervision matches this natural noise model, analogous to log-depth supervision in computer vision.</a:t>
            </a:r>
            <a:endParaRPr lang="en-US" altLang="ko-KR" sz="1200" dirty="0">
              <a:effectLst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507B073-3CB4-B2B9-29AF-7EBD0666C46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3021" b="27957"/>
          <a:stretch>
            <a:fillRect/>
          </a:stretch>
        </p:blipFill>
        <p:spPr>
          <a:xfrm>
            <a:off x="1044194" y="1401406"/>
            <a:ext cx="4248201" cy="74185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C8BC417-2F33-4237-69B4-ED25B003BD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3156" y="4251551"/>
            <a:ext cx="1855885" cy="25131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C33DA1E-5FF1-D887-05D1-C551DFF714C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39256"/>
          <a:stretch>
            <a:fillRect/>
          </a:stretch>
        </p:blipFill>
        <p:spPr>
          <a:xfrm>
            <a:off x="6946900" y="3668107"/>
            <a:ext cx="4405168" cy="609338"/>
          </a:xfrm>
          <a:prstGeom prst="rect">
            <a:avLst/>
          </a:prstGeom>
        </p:spPr>
      </p:pic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34D0AB00-86DE-D362-F15C-454B8A67D0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7498755"/>
              </p:ext>
            </p:extLst>
          </p:nvPr>
        </p:nvGraphicFramePr>
        <p:xfrm>
          <a:off x="280630" y="3493362"/>
          <a:ext cx="5850468" cy="1981200"/>
        </p:xfrm>
        <a:graphic>
          <a:graphicData uri="http://schemas.openxmlformats.org/drawingml/2006/table">
            <a:tbl>
              <a:tblPr/>
              <a:tblGrid>
                <a:gridCol w="1950156">
                  <a:extLst>
                    <a:ext uri="{9D8B030D-6E8A-4147-A177-3AD203B41FA5}">
                      <a16:colId xmlns:a16="http://schemas.microsoft.com/office/drawing/2014/main" val="1682559264"/>
                    </a:ext>
                  </a:extLst>
                </a:gridCol>
                <a:gridCol w="1950156">
                  <a:extLst>
                    <a:ext uri="{9D8B030D-6E8A-4147-A177-3AD203B41FA5}">
                      <a16:colId xmlns:a16="http://schemas.microsoft.com/office/drawing/2014/main" val="1293279138"/>
                    </a:ext>
                  </a:extLst>
                </a:gridCol>
                <a:gridCol w="1950156">
                  <a:extLst>
                    <a:ext uri="{9D8B030D-6E8A-4147-A177-3AD203B41FA5}">
                      <a16:colId xmlns:a16="http://schemas.microsoft.com/office/drawing/2014/main" val="2173453516"/>
                    </a:ext>
                  </a:extLst>
                </a:gridCol>
              </a:tblGrid>
              <a:tr h="2963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/>
                        <a:t>NeRF</a:t>
                      </a:r>
                      <a:endParaRPr lang="en-US" sz="1600" dirty="0"/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IGM-</a:t>
                      </a:r>
                      <a:r>
                        <a:rPr lang="en-US" sz="1600" dirty="0" err="1"/>
                        <a:t>NeRF</a:t>
                      </a:r>
                      <a:endParaRPr lang="en-US" sz="1600" dirty="0"/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Notes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5785796"/>
                  </a:ext>
                </a:extLst>
              </a:tr>
              <a:tr h="5119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Volume rendering integral</a:t>
                      </a:r>
                      <a:endParaRPr lang="en-US" sz="1600" dirty="0"/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Differentiable optical depth integral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Line integral along the ray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0136512"/>
                  </a:ext>
                </a:extLst>
              </a:tr>
              <a:tr h="511918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1" dirty="0">
                          <a:effectLst/>
                        </a:rPr>
                        <a:t>Per-pixel MSE on RGB</a:t>
                      </a:r>
                      <a:endParaRPr lang="en-US" sz="1600" b="1" dirty="0"/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effectLst/>
                        </a:rPr>
                        <a:t>log(1+</a:t>
                      </a:r>
                      <a:r>
                        <a:rPr lang="el-GR" altLang="ko-KR" sz="1600" dirty="0">
                          <a:effectLst/>
                        </a:rPr>
                        <a:t>τ) + </a:t>
                      </a:r>
                      <a:r>
                        <a:rPr lang="en-US" altLang="ko-KR" sz="1600" dirty="0">
                          <a:effectLst/>
                        </a:rPr>
                        <a:t>cap + mask MSE on </a:t>
                      </a:r>
                      <a:r>
                        <a:rPr lang="el-GR" altLang="ko-KR" sz="1600" dirty="0">
                          <a:effectLst/>
                        </a:rPr>
                        <a:t>τ + </a:t>
                      </a:r>
                      <a:r>
                        <a:rPr lang="en-US" altLang="ko-KR" sz="1600" dirty="0">
                          <a:effectLst/>
                        </a:rPr>
                        <a:t>soft mean-flux anchor</a:t>
                      </a:r>
                    </a:p>
                    <a:p>
                      <a:pPr>
                        <a:buNone/>
                      </a:pPr>
                      <a:endParaRPr lang="en-US" sz="1600" dirty="0"/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600" dirty="0"/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2985912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102A43"/>
                </a:solidFill>
              </a:rPr>
              <a:t>Result: Tier-1 across four feedback variants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73152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r>
                        <a:rPr sz="1300" b="1" dirty="0">
                          <a:solidFill>
                            <a:srgbClr val="102A43"/>
                          </a:solidFill>
                        </a:rPr>
                        <a:t>Physics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 dirty="0">
                          <a:solidFill>
                            <a:srgbClr val="102A43"/>
                          </a:solidFill>
                        </a:rPr>
                        <a:t>T1  (n=64)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 dirty="0">
                          <a:solidFill>
                            <a:srgbClr val="102A43"/>
                          </a:solidFill>
                        </a:rPr>
                        <a:t>T2  (n=256)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 dirty="0">
                          <a:solidFill>
                            <a:srgbClr val="102A43"/>
                          </a:solidFill>
                        </a:rPr>
                        <a:t>T3  (n=1024)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 dirty="0">
                          <a:solidFill>
                            <a:srgbClr val="102A43"/>
                          </a:solidFill>
                        </a:rPr>
                        <a:t>T4  (n=16,384)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102A43"/>
                          </a:solidFill>
                        </a:rPr>
                        <a:t>P1  (no </a:t>
                      </a:r>
                      <a:r>
                        <a:rPr sz="1200" dirty="0" err="1">
                          <a:solidFill>
                            <a:srgbClr val="102A43"/>
                          </a:solidFill>
                        </a:rPr>
                        <a:t>fdbk</a:t>
                      </a:r>
                      <a:r>
                        <a:rPr sz="1200" dirty="0">
                          <a:solidFill>
                            <a:srgbClr val="102A43"/>
                          </a:solidFill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0.9282 / 1.224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P2  (wind)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0.9247 / 2.315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P3  (wind+AGN)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0.9275 / 2.038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P4  (strong AGN)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0.9308 / 1.955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1" name="Group 10">
            <a:extLst>
              <a:ext uri="{FF2B5EF4-FFF2-40B4-BE49-F238E27FC236}">
                <a16:creationId xmlns:a16="http://schemas.microsoft.com/office/drawing/2014/main" id="{877ACEAE-5F99-2D44-A6F0-D2E98F3CF247}"/>
              </a:ext>
            </a:extLst>
          </p:cNvPr>
          <p:cNvGrpSpPr/>
          <p:nvPr/>
        </p:nvGrpSpPr>
        <p:grpSpPr>
          <a:xfrm>
            <a:off x="457200" y="3566160"/>
            <a:ext cx="7315200" cy="1193185"/>
            <a:chOff x="412750" y="2216142"/>
            <a:chExt cx="7315200" cy="1193185"/>
          </a:xfrm>
        </p:grpSpPr>
        <p:sp>
          <p:nvSpPr>
            <p:cNvPr id="4" name="TextBox 3"/>
            <p:cNvSpPr txBox="1"/>
            <p:nvPr/>
          </p:nvSpPr>
          <p:spPr>
            <a:xfrm>
              <a:off x="412750" y="2216142"/>
              <a:ext cx="731520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00" b="0" i="1" dirty="0">
                  <a:solidFill>
                    <a:srgbClr val="555555"/>
                  </a:solidFill>
                </a:rPr>
                <a:t>Cell:  ⟨</a:t>
              </a:r>
              <a:r>
                <a:rPr sz="1200" b="0" i="1" dirty="0" err="1">
                  <a:solidFill>
                    <a:srgbClr val="555555"/>
                  </a:solidFill>
                </a:rPr>
                <a:t>F⟩_pred</a:t>
              </a:r>
              <a:r>
                <a:rPr sz="1200" b="0" i="1" dirty="0">
                  <a:solidFill>
                    <a:srgbClr val="555555"/>
                  </a:solidFill>
                </a:rPr>
                <a:t> / 𝒜  at the production schedule  (50,000 steps each).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412750" y="2581902"/>
              <a:ext cx="7315200" cy="457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500" b="1" i="0" dirty="0">
                  <a:solidFill>
                    <a:srgbClr val="102A43"/>
                  </a:solidFill>
                </a:rPr>
                <a:t>Mean-flux spread across four physics:  0.9247 → 0.9308   (0.66 %)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12750" y="2947662"/>
              <a:ext cx="731520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00" b="0" i="0" dirty="0">
                  <a:solidFill>
                    <a:srgbClr val="555555"/>
                  </a:solidFill>
                </a:rPr>
                <a:t>Well within the 5 % calibration tolerance vs the observational anchor </a:t>
              </a:r>
              <a:br>
                <a:rPr lang="en-US" sz="1200" b="0" i="0" dirty="0">
                  <a:solidFill>
                    <a:srgbClr val="555555"/>
                  </a:solidFill>
                </a:rPr>
              </a:br>
              <a:r>
                <a:rPr sz="1200" b="0" i="0" dirty="0">
                  <a:solidFill>
                    <a:srgbClr val="555555"/>
                  </a:solidFill>
                </a:rPr>
                <a:t>(Danforth+ 2016, ⟨F⟩_</a:t>
              </a:r>
              <a:r>
                <a:rPr sz="1200" b="0" i="0" dirty="0" err="1">
                  <a:solidFill>
                    <a:srgbClr val="555555"/>
                  </a:solidFill>
                </a:rPr>
                <a:t>obs</a:t>
              </a:r>
              <a:r>
                <a:rPr sz="1200" b="0" i="0" dirty="0">
                  <a:solidFill>
                    <a:srgbClr val="555555"/>
                  </a:solidFill>
                </a:rPr>
                <a:t> = 0.877 ± 15 % at z = 0.3).</a:t>
              </a:r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8046720" y="1097280"/>
            <a:ext cx="3840480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dirty="0">
                <a:solidFill>
                  <a:srgbClr val="102A43"/>
                </a:solidFill>
              </a:rPr>
              <a:t>Same architecture</a:t>
            </a:r>
          </a:p>
          <a:p>
            <a:r>
              <a:rPr sz="1300" dirty="0">
                <a:solidFill>
                  <a:srgbClr val="102A43"/>
                </a:solidFill>
              </a:rPr>
              <a:t>Same loss</a:t>
            </a:r>
          </a:p>
          <a:p>
            <a:r>
              <a:rPr sz="1300" dirty="0">
                <a:solidFill>
                  <a:srgbClr val="102A43"/>
                </a:solidFill>
              </a:rPr>
              <a:t>Same hyperparameters</a:t>
            </a:r>
          </a:p>
          <a:p>
            <a:endParaRPr sz="1300" dirty="0">
              <a:solidFill>
                <a:srgbClr val="102A43"/>
              </a:solidFill>
            </a:endParaRPr>
          </a:p>
          <a:p>
            <a:r>
              <a:rPr sz="1300" dirty="0">
                <a:solidFill>
                  <a:srgbClr val="102A43"/>
                </a:solidFill>
              </a:rPr>
              <a:t>Four different physics priors</a:t>
            </a:r>
          </a:p>
          <a:p>
            <a:r>
              <a:rPr sz="1300" dirty="0">
                <a:solidFill>
                  <a:srgbClr val="102A43"/>
                </a:solidFill>
              </a:rPr>
              <a:t>Four consistent reconstructions</a:t>
            </a:r>
          </a:p>
          <a:p>
            <a:r>
              <a:rPr sz="1300" b="1" dirty="0">
                <a:solidFill>
                  <a:srgbClr val="102A43"/>
                </a:solidFill>
              </a:rPr>
              <a:t>Calibration constraint holds across all four</a:t>
            </a:r>
          </a:p>
          <a:p>
            <a:endParaRPr sz="1300" b="1" dirty="0">
              <a:solidFill>
                <a:srgbClr val="102A43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9668465-BF3F-E042-6DBC-14A4058A5C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4162" y="2790051"/>
            <a:ext cx="3282449" cy="144145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4545001-EAE0-680D-B987-522E4E03EA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7990" y="5067739"/>
            <a:ext cx="7617460" cy="96686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371228D-B1CD-0D26-0B99-85DEB977C256}"/>
              </a:ext>
            </a:extLst>
          </p:cNvPr>
          <p:cNvSpPr txBox="1"/>
          <p:nvPr/>
        </p:nvSpPr>
        <p:spPr>
          <a:xfrm>
            <a:off x="5214870" y="4697514"/>
            <a:ext cx="61117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102A43"/>
                </a:solidFill>
              </a:rPr>
              <a:t>T2 / T3 / T4: identical methodology, paused on compute quota</a:t>
            </a:r>
          </a:p>
          <a:p>
            <a:endParaRPr lang="ko-KR" alt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02A43"/>
                </a:solidFill>
              </a:rPr>
              <a:t>Where this is going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4864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dirty="0">
                <a:solidFill>
                  <a:srgbClr val="C0392B"/>
                </a:solidFill>
              </a:rPr>
              <a:t>Production sweep — paused on compute</a:t>
            </a:r>
          </a:p>
          <a:p>
            <a:r>
              <a:rPr sz="1500" dirty="0">
                <a:solidFill>
                  <a:srgbClr val="102A43"/>
                </a:solidFill>
              </a:rPr>
              <a:t>•  12 cells remain  (Tiers 2-4 × 4 physics)</a:t>
            </a:r>
          </a:p>
          <a:p>
            <a:r>
              <a:rPr sz="1500" dirty="0">
                <a:solidFill>
                  <a:srgbClr val="102A43"/>
                </a:solidFill>
              </a:rPr>
              <a:t>•  ~820 GPU-hours total</a:t>
            </a:r>
          </a:p>
          <a:p>
            <a:r>
              <a:rPr sz="1500" dirty="0">
                <a:solidFill>
                  <a:srgbClr val="102A43"/>
                </a:solidFill>
              </a:rPr>
              <a:t>•  ~792 GPU-</a:t>
            </a:r>
            <a:r>
              <a:rPr sz="1500" dirty="0" err="1">
                <a:solidFill>
                  <a:srgbClr val="102A43"/>
                </a:solidFill>
              </a:rPr>
              <a:t>hr</a:t>
            </a:r>
            <a:r>
              <a:rPr sz="1500" dirty="0">
                <a:solidFill>
                  <a:srgbClr val="102A43"/>
                </a:solidFill>
              </a:rPr>
              <a:t> in Tier 4 alone  (96.5 %)</a:t>
            </a:r>
          </a:p>
          <a:p>
            <a:r>
              <a:rPr sz="1500" dirty="0">
                <a:solidFill>
                  <a:srgbClr val="102A43"/>
                </a:solidFill>
              </a:rPr>
              <a:t>•  9 calendar days  @ 4-way parallel</a:t>
            </a:r>
          </a:p>
          <a:p>
            <a:r>
              <a:rPr sz="1500" dirty="0">
                <a:solidFill>
                  <a:srgbClr val="102A43"/>
                </a:solidFill>
              </a:rPr>
              <a:t>•  ≥ 12 GB VRAM</a:t>
            </a:r>
          </a:p>
          <a:p>
            <a:r>
              <a:rPr sz="1500" dirty="0">
                <a:solidFill>
                  <a:srgbClr val="102A43"/>
                </a:solidFill>
              </a:rPr>
              <a:t>•  Single-GPU per job, parallel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097280"/>
            <a:ext cx="557784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dirty="0">
                <a:solidFill>
                  <a:srgbClr val="C0392B"/>
                </a:solidFill>
              </a:rPr>
              <a:t>Three downstream gates,  ready to run</a:t>
            </a:r>
          </a:p>
          <a:p>
            <a:r>
              <a:rPr sz="1500" dirty="0">
                <a:solidFill>
                  <a:srgbClr val="102A43"/>
                </a:solidFill>
              </a:rPr>
              <a:t>•  1D flux power spectrum  P_F(k_∥)</a:t>
            </a:r>
          </a:p>
          <a:p>
            <a:r>
              <a:rPr sz="1500" dirty="0">
                <a:solidFill>
                  <a:srgbClr val="102A43"/>
                </a:solidFill>
              </a:rPr>
              <a:t>•  Pearson  ξ_{</a:t>
            </a:r>
            <a:r>
              <a:rPr sz="1500" dirty="0" err="1">
                <a:solidFill>
                  <a:srgbClr val="102A43"/>
                </a:solidFill>
              </a:rPr>
              <a:t>ρ̂,ρ</a:t>
            </a:r>
            <a:r>
              <a:rPr sz="1500" dirty="0">
                <a:solidFill>
                  <a:srgbClr val="102A43"/>
                </a:solidFill>
              </a:rPr>
              <a:t>}(2 Mpc/h)</a:t>
            </a:r>
          </a:p>
          <a:p>
            <a:r>
              <a:rPr sz="1500" dirty="0">
                <a:solidFill>
                  <a:srgbClr val="102A43"/>
                </a:solidFill>
              </a:rPr>
              <a:t>•  Flux-PDF KS distance</a:t>
            </a:r>
          </a:p>
          <a:p>
            <a:endParaRPr sz="1500" dirty="0">
              <a:solidFill>
                <a:srgbClr val="102A43"/>
              </a:solidFill>
            </a:endParaRPr>
          </a:p>
          <a:p>
            <a:r>
              <a:rPr sz="1500" dirty="0">
                <a:solidFill>
                  <a:srgbClr val="102A43"/>
                </a:solidFill>
              </a:rPr>
              <a:t>•  Implemen</a:t>
            </a:r>
            <a:r>
              <a:rPr lang="en-US" sz="1500" dirty="0">
                <a:solidFill>
                  <a:srgbClr val="102A43"/>
                </a:solidFill>
              </a:rPr>
              <a:t>ted and</a:t>
            </a:r>
            <a:r>
              <a:rPr sz="1500" dirty="0">
                <a:solidFill>
                  <a:srgbClr val="102A43"/>
                </a:solidFill>
              </a:rPr>
              <a:t> </a:t>
            </a:r>
            <a:r>
              <a:rPr lang="en-US" sz="1500" dirty="0">
                <a:solidFill>
                  <a:srgbClr val="102A43"/>
                </a:solidFill>
              </a:rPr>
              <a:t>ready</a:t>
            </a:r>
            <a:endParaRPr sz="1500" dirty="0">
              <a:solidFill>
                <a:srgbClr val="102A43"/>
              </a:solidFill>
            </a:endParaRPr>
          </a:p>
          <a:p>
            <a:r>
              <a:rPr sz="1500" dirty="0">
                <a:solidFill>
                  <a:srgbClr val="102A43"/>
                </a:solidFill>
              </a:rPr>
              <a:t>•  Awaiting Tier-3 fiducial cell to evaluate against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2123</TotalTime>
  <Words>1404</Words>
  <Application>Microsoft Office PowerPoint</Application>
  <PresentationFormat>Widescreen</PresentationFormat>
  <Paragraphs>177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Sujin Hwang</cp:lastModifiedBy>
  <cp:revision>5</cp:revision>
  <dcterms:created xsi:type="dcterms:W3CDTF">2013-01-27T09:14:16Z</dcterms:created>
  <dcterms:modified xsi:type="dcterms:W3CDTF">2026-05-13T02:05:07Z</dcterms:modified>
  <cp:category/>
</cp:coreProperties>
</file>